
<file path=[Content_Types].xml><?xml version="1.0" encoding="utf-8"?>
<Types xmlns="http://schemas.openxmlformats.org/package/2006/content-types">
  <Default Extension="png" ContentType="image/png"/>
  <Default Extension="jfif" ContentType="image/jpe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14"/>
    <p:sldId id="276" r:id="rId15"/>
    <p:sldId id="27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6D2955-C700-455A-83C3-BC527234F917}" v="74" dt="2026-05-31T15:20:38.0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6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051921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243302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70082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46817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e1b105973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0" name="Google Shape;110;g3e1b105973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33977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e1b105973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6" name="Google Shape;116;g3e1b105973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12202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1b105973a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1" name="Google Shape;121;g3e1b105973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120349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1b105973a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7" name="Google Shape;127;g3e1b105973a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88211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e1b105973a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2" name="Google Shape;132;g3e1b105973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11342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e1b105973a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8" name="Google Shape;138;g3e1b105973a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32564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1b105973a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g3e1b105973a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31338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e1b105973a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" name="Google Shape;149;g3e1b105973a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6454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1b105973a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4" name="Google Shape;154;g3e1b105973a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304876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1b105973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0" name="Google Shape;160;g3e1b105973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682600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1b105973a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5" name="Google Shape;165;g3e1b105973a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71642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1b105973a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1" name="Google Shape;171;g3e1b105973a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25610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e1b105973a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6" name="Google Shape;176;g3e1b105973a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502877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e1b105973a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2" name="Google Shape;182;g3e1b105973a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39980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e1b105973a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7" name="Google Shape;187;g3e1b105973a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875123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3" name="Google Shape;1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1203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vesp.br" TargetMode="External"/><Relationship Id="rId2" Type="http://schemas.openxmlformats.org/officeDocument/2006/relationships/hyperlink" Target="mailto:casaluno@univesp.br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vesp.br" TargetMode="External"/><Relationship Id="rId2" Type="http://schemas.openxmlformats.org/officeDocument/2006/relationships/hyperlink" Target="mailto:casaluno@univesp.br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vesp.br" TargetMode="External"/><Relationship Id="rId2" Type="http://schemas.openxmlformats.org/officeDocument/2006/relationships/hyperlink" Target="mailto:casaluno@univesp.br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vesp.br" TargetMode="External"/><Relationship Id="rId2" Type="http://schemas.openxmlformats.org/officeDocument/2006/relationships/hyperlink" Target="mailto:casaluno@univesp.br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vesp.br" TargetMode="External"/><Relationship Id="rId2" Type="http://schemas.openxmlformats.org/officeDocument/2006/relationships/hyperlink" Target="mailto:casaluno@univesp.br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vesp.br" TargetMode="External"/><Relationship Id="rId2" Type="http://schemas.openxmlformats.org/officeDocument/2006/relationships/hyperlink" Target="mailto:casaluno@univesp.br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vesp.br" TargetMode="External"/><Relationship Id="rId2" Type="http://schemas.openxmlformats.org/officeDocument/2006/relationships/hyperlink" Target="mailto:casaluno@univesp.br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univesp.br" TargetMode="External"/><Relationship Id="rId2" Type="http://schemas.openxmlformats.org/officeDocument/2006/relationships/hyperlink" Target="mailto:casaluno@univesp.br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685800" y="3392669"/>
            <a:ext cx="7772400" cy="10838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600"/>
              <a:buFont typeface="Trebuchet MS"/>
              <a:buNone/>
              <a:defRPr sz="3600" b="0" i="0" u="none" strike="noStrike" cap="none">
                <a:solidFill>
                  <a:srgbClr val="F2F2F2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532466" y="4601676"/>
            <a:ext cx="6049904" cy="1227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BFBFB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ctr">
              <a:lnSpc>
                <a:spcPct val="130000"/>
              </a:lnSpc>
              <a:spcBef>
                <a:spcPts val="560"/>
              </a:spcBef>
              <a:spcAft>
                <a:spcPts val="0"/>
              </a:spcAft>
              <a:buClr>
                <a:srgbClr val="ABACAE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ctr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ABACAE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ctr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ABACAE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ctr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ABACAE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BACAE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BACAE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BACAE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BACAE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pic>
        <p:nvPicPr>
          <p:cNvPr id="15" name="Google Shape;15;p2" descr="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02948" y="2043447"/>
            <a:ext cx="3311174" cy="11522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EFEFEF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820687" y="4406900"/>
            <a:ext cx="6914269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Trebuchet MS"/>
              <a:buNone/>
              <a:defRPr sz="4000" b="1" i="0" u="none" strike="noStrike" cap="non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820687" y="2906713"/>
            <a:ext cx="6914269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ABACAE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2286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ABACAE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228600" algn="l">
              <a:lnSpc>
                <a:spcPct val="130000"/>
              </a:lnSpc>
              <a:spcBef>
                <a:spcPts val="280"/>
              </a:spcBef>
              <a:spcAft>
                <a:spcPts val="0"/>
              </a:spcAft>
              <a:buClr>
                <a:srgbClr val="ABACA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228600" algn="l">
              <a:lnSpc>
                <a:spcPct val="130000"/>
              </a:lnSpc>
              <a:spcBef>
                <a:spcPts val="280"/>
              </a:spcBef>
              <a:spcAft>
                <a:spcPts val="0"/>
              </a:spcAft>
              <a:buClr>
                <a:srgbClr val="ABACA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ABACA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ABACA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ABACA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ABACA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20" name="Google Shape;20;p3"/>
          <p:cNvCxnSpPr/>
          <p:nvPr/>
        </p:nvCxnSpPr>
        <p:spPr>
          <a:xfrm rot="10800000" flipH="1">
            <a:off x="577929" y="0"/>
            <a:ext cx="782434" cy="4406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3"/>
          <p:cNvSpPr txBox="1"/>
          <p:nvPr/>
        </p:nvSpPr>
        <p:spPr>
          <a:xfrm>
            <a:off x="-1689606" y="5590730"/>
            <a:ext cx="1846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22" name="Google Shape;22;p3"/>
          <p:cNvCxnSpPr/>
          <p:nvPr/>
        </p:nvCxnSpPr>
        <p:spPr>
          <a:xfrm rot="10800000" flipH="1">
            <a:off x="8044396" y="4406899"/>
            <a:ext cx="435186" cy="24511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1580444" y="274637"/>
            <a:ext cx="669666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F1E00"/>
              </a:buClr>
              <a:buSzPts val="3600"/>
              <a:buFont typeface="Trebuchet MS"/>
              <a:buNone/>
              <a:defRPr sz="3600" b="0" i="0" u="none" strike="noStrike" cap="none">
                <a:solidFill>
                  <a:srgbClr val="AF1E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1580444" y="1600200"/>
            <a:ext cx="6696662" cy="4203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>
              <a:lnSpc>
                <a:spcPct val="130000"/>
              </a:lnSpc>
              <a:spcBef>
                <a:spcPts val="640"/>
              </a:spcBef>
              <a:spcAft>
                <a:spcPts val="0"/>
              </a:spcAft>
              <a:buClr>
                <a:srgbClr val="808285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406400" algn="l">
              <a:lnSpc>
                <a:spcPct val="130000"/>
              </a:lnSpc>
              <a:spcBef>
                <a:spcPts val="560"/>
              </a:spcBef>
              <a:spcAft>
                <a:spcPts val="0"/>
              </a:spcAft>
              <a:buClr>
                <a:srgbClr val="808285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381000" algn="l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808285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1580444" y="6134707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27" name="Google Shape;27;p4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1296953" y="2894230"/>
            <a:ext cx="669666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Trebuchet MS"/>
              <a:buNone/>
              <a:defRPr sz="6000" b="0" i="0" u="none" strike="noStrike" cap="non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cxnSp>
        <p:nvCxnSpPr>
          <p:cNvPr id="31" name="Google Shape;31;p5"/>
          <p:cNvCxnSpPr/>
          <p:nvPr/>
        </p:nvCxnSpPr>
        <p:spPr>
          <a:xfrm rot="10800000" flipH="1">
            <a:off x="577929" y="0"/>
            <a:ext cx="782434" cy="4406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" name="Google Shape;32;p5"/>
          <p:cNvCxnSpPr/>
          <p:nvPr/>
        </p:nvCxnSpPr>
        <p:spPr>
          <a:xfrm rot="10800000" flipH="1">
            <a:off x="8044396" y="4406899"/>
            <a:ext cx="435186" cy="24511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3" name="Google Shape;33;p5" descr="log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360365" y="4406900"/>
            <a:ext cx="1881900" cy="7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/>
        </p:nvSpPr>
        <p:spPr>
          <a:xfrm>
            <a:off x="6773000" y="5748475"/>
            <a:ext cx="12714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Trebuchet MS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univesp.br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1580444" y="274637"/>
            <a:ext cx="669666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F1E00"/>
              </a:buClr>
              <a:buSzPts val="3600"/>
              <a:buFont typeface="Trebuchet MS"/>
              <a:buNone/>
              <a:defRPr sz="3600" b="0" i="0" u="none" strike="noStrike" cap="none">
                <a:solidFill>
                  <a:srgbClr val="AF1E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1"/>
          </p:nvPr>
        </p:nvSpPr>
        <p:spPr>
          <a:xfrm>
            <a:off x="1580444" y="1600200"/>
            <a:ext cx="2915355" cy="42032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>
              <a:lnSpc>
                <a:spcPct val="130000"/>
              </a:lnSpc>
              <a:spcBef>
                <a:spcPts val="560"/>
              </a:spcBef>
              <a:spcAft>
                <a:spcPts val="0"/>
              </a:spcAft>
              <a:buClr>
                <a:srgbClr val="808285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381000" algn="l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808285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342900" algn="l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808285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342900" algn="l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808285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3628906" cy="42032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>
              <a:lnSpc>
                <a:spcPct val="130000"/>
              </a:lnSpc>
              <a:spcBef>
                <a:spcPts val="560"/>
              </a:spcBef>
              <a:spcAft>
                <a:spcPts val="0"/>
              </a:spcAft>
              <a:buClr>
                <a:srgbClr val="808285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381000" algn="l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808285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342900" algn="l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808285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342900" algn="l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808285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dt" idx="10"/>
          </p:nvPr>
        </p:nvSpPr>
        <p:spPr>
          <a:xfrm>
            <a:off x="1580444" y="6134707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40" name="Google Shape;40;p6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6"/>
          <p:cNvSpPr txBox="1"/>
          <p:nvPr/>
        </p:nvSpPr>
        <p:spPr>
          <a:xfrm>
            <a:off x="3254476" y="6015085"/>
            <a:ext cx="4029746" cy="484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Universidade Virtual do Estado de São Paulo</a:t>
            </a:r>
            <a:endParaRPr/>
          </a:p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+55 11 3188.6780 /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2"/>
              </a:rPr>
              <a:t>casaluno@univesp.br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/ 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3"/>
              </a:rPr>
              <a:t>www.univesp.br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1580444" y="274637"/>
            <a:ext cx="669666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F1E00"/>
              </a:buClr>
              <a:buSzPts val="3600"/>
              <a:buFont typeface="Trebuchet MS"/>
              <a:buNone/>
              <a:defRPr sz="3600" b="0" i="0" u="none" strike="noStrike" cap="none">
                <a:solidFill>
                  <a:srgbClr val="AF1E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1"/>
          </p:nvPr>
        </p:nvSpPr>
        <p:spPr>
          <a:xfrm>
            <a:off x="1580444" y="1535112"/>
            <a:ext cx="291694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228600" algn="l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808285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2286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2286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2"/>
          </p:nvPr>
        </p:nvSpPr>
        <p:spPr>
          <a:xfrm>
            <a:off x="1580444" y="2174875"/>
            <a:ext cx="2916943" cy="3767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81000" algn="l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808285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342900" algn="l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808285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3302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3302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3"/>
          </p:nvPr>
        </p:nvSpPr>
        <p:spPr>
          <a:xfrm>
            <a:off x="4645026" y="1535112"/>
            <a:ext cx="3632081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228600" algn="l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808285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2286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2286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4"/>
          </p:nvPr>
        </p:nvSpPr>
        <p:spPr>
          <a:xfrm>
            <a:off x="4645026" y="2174875"/>
            <a:ext cx="3632081" cy="3767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81000" algn="l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808285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342900" algn="l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808285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3302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330200" algn="l">
              <a:lnSpc>
                <a:spcPct val="130000"/>
              </a:lnSpc>
              <a:spcBef>
                <a:spcPts val="320"/>
              </a:spcBef>
              <a:spcAft>
                <a:spcPts val="0"/>
              </a:spcAft>
              <a:buClr>
                <a:srgbClr val="808285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dt" idx="10"/>
          </p:nvPr>
        </p:nvSpPr>
        <p:spPr>
          <a:xfrm>
            <a:off x="1580444" y="6134707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49" name="Google Shape;49;p7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" name="Google Shape;50;p7"/>
          <p:cNvSpPr txBox="1"/>
          <p:nvPr/>
        </p:nvSpPr>
        <p:spPr>
          <a:xfrm>
            <a:off x="3254476" y="6015085"/>
            <a:ext cx="4029746" cy="484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Universidade Virtual do Estado de São Paulo</a:t>
            </a:r>
            <a:endParaRPr/>
          </a:p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+55 11 3188.6780 /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2"/>
              </a:rPr>
              <a:t>casaluno@univesp.br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/ 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3"/>
              </a:rPr>
              <a:t>www.univesp.br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1580444" y="274637"/>
            <a:ext cx="669666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F1E00"/>
              </a:buClr>
              <a:buSzPts val="3600"/>
              <a:buFont typeface="Trebuchet MS"/>
              <a:buNone/>
              <a:defRPr sz="3600" b="0" i="0" u="none" strike="noStrike" cap="none">
                <a:solidFill>
                  <a:srgbClr val="AF1E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dt" idx="10"/>
          </p:nvPr>
        </p:nvSpPr>
        <p:spPr>
          <a:xfrm>
            <a:off x="1580444" y="6134707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54" name="Google Shape;54;p8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" name="Google Shape;55;p8"/>
          <p:cNvSpPr txBox="1"/>
          <p:nvPr/>
        </p:nvSpPr>
        <p:spPr>
          <a:xfrm>
            <a:off x="3254476" y="6015085"/>
            <a:ext cx="4029746" cy="484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Universidade Virtual do Estado de São Paulo</a:t>
            </a:r>
            <a:endParaRPr/>
          </a:p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+55 11 3188.6780 /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2"/>
              </a:rPr>
              <a:t>casaluno@univesp.br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/ 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3"/>
              </a:rPr>
              <a:t>www.univesp.br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>
            <a:spLocks noGrp="1"/>
          </p:cNvSpPr>
          <p:nvPr>
            <p:ph type="dt" idx="10"/>
          </p:nvPr>
        </p:nvSpPr>
        <p:spPr>
          <a:xfrm>
            <a:off x="1580444" y="6134707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58" name="Google Shape;58;p9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9" name="Google Shape;59;p9"/>
          <p:cNvSpPr txBox="1"/>
          <p:nvPr/>
        </p:nvSpPr>
        <p:spPr>
          <a:xfrm>
            <a:off x="3254476" y="6015085"/>
            <a:ext cx="4029746" cy="484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Universidade Virtual do Estado de São Paulo</a:t>
            </a:r>
            <a:endParaRPr/>
          </a:p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+55 11 3188.6780 /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2"/>
              </a:rPr>
              <a:t>casaluno@univesp.br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/ 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3"/>
              </a:rPr>
              <a:t>www.univesp.br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0"/>
          <p:cNvSpPr txBox="1">
            <a:spLocks noGrp="1"/>
          </p:cNvSpPr>
          <p:nvPr>
            <p:ph type="title"/>
          </p:nvPr>
        </p:nvSpPr>
        <p:spPr>
          <a:xfrm>
            <a:off x="1580444" y="273050"/>
            <a:ext cx="3008313" cy="116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F1E00"/>
              </a:buClr>
              <a:buSzPts val="2000"/>
              <a:buFont typeface="Trebuchet MS"/>
              <a:buNone/>
              <a:defRPr sz="2000" b="0" i="0" u="none" strike="noStrike" cap="none">
                <a:solidFill>
                  <a:srgbClr val="AF1E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body" idx="1"/>
          </p:nvPr>
        </p:nvSpPr>
        <p:spPr>
          <a:xfrm>
            <a:off x="4741332" y="273050"/>
            <a:ext cx="3535774" cy="5530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>
              <a:lnSpc>
                <a:spcPct val="130000"/>
              </a:lnSpc>
              <a:spcBef>
                <a:spcPts val="640"/>
              </a:spcBef>
              <a:spcAft>
                <a:spcPts val="0"/>
              </a:spcAft>
              <a:buClr>
                <a:srgbClr val="808285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406400" algn="l">
              <a:lnSpc>
                <a:spcPct val="130000"/>
              </a:lnSpc>
              <a:spcBef>
                <a:spcPts val="560"/>
              </a:spcBef>
              <a:spcAft>
                <a:spcPts val="0"/>
              </a:spcAft>
              <a:buClr>
                <a:srgbClr val="808285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381000" algn="l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808285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body" idx="2"/>
          </p:nvPr>
        </p:nvSpPr>
        <p:spPr>
          <a:xfrm>
            <a:off x="1580444" y="1600200"/>
            <a:ext cx="3008313" cy="4203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30000"/>
              </a:lnSpc>
              <a:spcBef>
                <a:spcPts val="280"/>
              </a:spcBef>
              <a:spcAft>
                <a:spcPts val="0"/>
              </a:spcAft>
              <a:buClr>
                <a:srgbClr val="808285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>
              <a:lnSpc>
                <a:spcPct val="130000"/>
              </a:lnSpc>
              <a:spcBef>
                <a:spcPts val="240"/>
              </a:spcBef>
              <a:spcAft>
                <a:spcPts val="0"/>
              </a:spcAft>
              <a:buClr>
                <a:srgbClr val="808285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228600"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  <a:buClr>
                <a:srgbClr val="808285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228600" algn="l">
              <a:lnSpc>
                <a:spcPct val="130000"/>
              </a:lnSpc>
              <a:spcBef>
                <a:spcPts val="180"/>
              </a:spcBef>
              <a:spcAft>
                <a:spcPts val="0"/>
              </a:spcAft>
              <a:buClr>
                <a:srgbClr val="80828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228600" algn="l">
              <a:lnSpc>
                <a:spcPct val="130000"/>
              </a:lnSpc>
              <a:spcBef>
                <a:spcPts val="180"/>
              </a:spcBef>
              <a:spcAft>
                <a:spcPts val="0"/>
              </a:spcAft>
              <a:buClr>
                <a:srgbClr val="80828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dt" idx="10"/>
          </p:nvPr>
        </p:nvSpPr>
        <p:spPr>
          <a:xfrm>
            <a:off x="1580444" y="6134707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65" name="Google Shape;65;p10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" name="Google Shape;66;p10"/>
          <p:cNvSpPr txBox="1"/>
          <p:nvPr/>
        </p:nvSpPr>
        <p:spPr>
          <a:xfrm>
            <a:off x="3254476" y="6015085"/>
            <a:ext cx="4029746" cy="484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Universidade Virtual do Estado de São Paulo</a:t>
            </a:r>
            <a:endParaRPr/>
          </a:p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+55 11 3188.6780 /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2"/>
              </a:rPr>
              <a:t>casaluno@univesp.br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/ 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3"/>
              </a:rPr>
              <a:t>www.univesp.br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1"/>
          <p:cNvSpPr txBox="1">
            <a:spLocks noGrp="1"/>
          </p:cNvSpPr>
          <p:nvPr>
            <p:ph type="title"/>
          </p:nvPr>
        </p:nvSpPr>
        <p:spPr>
          <a:xfrm>
            <a:off x="1580444" y="4398169"/>
            <a:ext cx="5698243" cy="566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F1E00"/>
              </a:buClr>
              <a:buSzPts val="2000"/>
              <a:buFont typeface="Trebuchet MS"/>
              <a:buNone/>
              <a:defRPr sz="2000" b="0" i="0" u="none" strike="noStrike" cap="none">
                <a:solidFill>
                  <a:srgbClr val="AF1E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11"/>
          <p:cNvSpPr>
            <a:spLocks noGrp="1"/>
          </p:cNvSpPr>
          <p:nvPr>
            <p:ph type="pic" idx="2"/>
          </p:nvPr>
        </p:nvSpPr>
        <p:spPr>
          <a:xfrm>
            <a:off x="1580444" y="612775"/>
            <a:ext cx="5698243" cy="3730530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>
            <a:off x="1580444" y="4964907"/>
            <a:ext cx="5698243" cy="80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30000"/>
              </a:lnSpc>
              <a:spcBef>
                <a:spcPts val="280"/>
              </a:spcBef>
              <a:spcAft>
                <a:spcPts val="0"/>
              </a:spcAft>
              <a:buClr>
                <a:srgbClr val="808285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>
              <a:lnSpc>
                <a:spcPct val="130000"/>
              </a:lnSpc>
              <a:spcBef>
                <a:spcPts val="240"/>
              </a:spcBef>
              <a:spcAft>
                <a:spcPts val="0"/>
              </a:spcAft>
              <a:buClr>
                <a:srgbClr val="808285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228600"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  <a:buClr>
                <a:srgbClr val="808285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228600" algn="l">
              <a:lnSpc>
                <a:spcPct val="130000"/>
              </a:lnSpc>
              <a:spcBef>
                <a:spcPts val="180"/>
              </a:spcBef>
              <a:spcAft>
                <a:spcPts val="0"/>
              </a:spcAft>
              <a:buClr>
                <a:srgbClr val="80828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228600" algn="l">
              <a:lnSpc>
                <a:spcPct val="130000"/>
              </a:lnSpc>
              <a:spcBef>
                <a:spcPts val="180"/>
              </a:spcBef>
              <a:spcAft>
                <a:spcPts val="0"/>
              </a:spcAft>
              <a:buClr>
                <a:srgbClr val="80828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1580444" y="6134707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72" name="Google Shape;72;p11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3" name="Google Shape;73;p11"/>
          <p:cNvSpPr txBox="1"/>
          <p:nvPr/>
        </p:nvSpPr>
        <p:spPr>
          <a:xfrm>
            <a:off x="3254476" y="6015085"/>
            <a:ext cx="4029746" cy="484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Universidade Virtual do Estado de São Paulo</a:t>
            </a:r>
            <a:endParaRPr/>
          </a:p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+55 11 3188.6780 /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2"/>
              </a:rPr>
              <a:t>casaluno@univesp.br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/ 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3"/>
              </a:rPr>
              <a:t>www.univesp.br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>
            <a:off x="1580444" y="274637"/>
            <a:ext cx="669666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F1E00"/>
              </a:buClr>
              <a:buSzPts val="3600"/>
              <a:buFont typeface="Trebuchet MS"/>
              <a:buNone/>
              <a:defRPr sz="3600" b="0" i="0" u="none" strike="noStrike" cap="none">
                <a:solidFill>
                  <a:srgbClr val="AF1E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2827146" y="353498"/>
            <a:ext cx="4203257" cy="6696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>
              <a:lnSpc>
                <a:spcPct val="130000"/>
              </a:lnSpc>
              <a:spcBef>
                <a:spcPts val="640"/>
              </a:spcBef>
              <a:spcAft>
                <a:spcPts val="0"/>
              </a:spcAft>
              <a:buClr>
                <a:srgbClr val="808285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406400" algn="l">
              <a:lnSpc>
                <a:spcPct val="130000"/>
              </a:lnSpc>
              <a:spcBef>
                <a:spcPts val="560"/>
              </a:spcBef>
              <a:spcAft>
                <a:spcPts val="0"/>
              </a:spcAft>
              <a:buClr>
                <a:srgbClr val="808285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381000" algn="l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808285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1580444" y="6134707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78" name="Google Shape;78;p12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9" name="Google Shape;79;p12"/>
          <p:cNvSpPr txBox="1"/>
          <p:nvPr/>
        </p:nvSpPr>
        <p:spPr>
          <a:xfrm>
            <a:off x="3254476" y="6015085"/>
            <a:ext cx="4029746" cy="484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Universidade Virtual do Estado de São Paulo</a:t>
            </a:r>
            <a:endParaRPr/>
          </a:p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+55 11 3188.6780 /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2"/>
              </a:rPr>
              <a:t>casaluno@univesp.br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/ 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3"/>
              </a:rPr>
              <a:t>www.univesp.br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 txBox="1">
            <a:spLocks noGrp="1"/>
          </p:cNvSpPr>
          <p:nvPr>
            <p:ph type="title"/>
          </p:nvPr>
        </p:nvSpPr>
        <p:spPr>
          <a:xfrm rot="5400000">
            <a:off x="4893689" y="2010348"/>
            <a:ext cx="552882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F1E00"/>
              </a:buClr>
              <a:buSzPts val="3600"/>
              <a:buFont typeface="Trebuchet MS"/>
              <a:buNone/>
              <a:defRPr sz="3600" b="0" i="0" u="none" strike="noStrike" cap="none">
                <a:solidFill>
                  <a:srgbClr val="AF1E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body" idx="1"/>
          </p:nvPr>
        </p:nvSpPr>
        <p:spPr>
          <a:xfrm rot="5400000">
            <a:off x="1264311" y="590770"/>
            <a:ext cx="5528820" cy="4896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>
              <a:lnSpc>
                <a:spcPct val="130000"/>
              </a:lnSpc>
              <a:spcBef>
                <a:spcPts val="640"/>
              </a:spcBef>
              <a:spcAft>
                <a:spcPts val="0"/>
              </a:spcAft>
              <a:buClr>
                <a:srgbClr val="808285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406400" algn="l">
              <a:lnSpc>
                <a:spcPct val="130000"/>
              </a:lnSpc>
              <a:spcBef>
                <a:spcPts val="560"/>
              </a:spcBef>
              <a:spcAft>
                <a:spcPts val="0"/>
              </a:spcAft>
              <a:buClr>
                <a:srgbClr val="808285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381000" algn="l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808285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355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dt" idx="10"/>
          </p:nvPr>
        </p:nvSpPr>
        <p:spPr>
          <a:xfrm>
            <a:off x="1580442" y="6015085"/>
            <a:ext cx="1526616" cy="484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84" name="Google Shape;84;p13"/>
          <p:cNvSpPr txBox="1"/>
          <p:nvPr/>
        </p:nvSpPr>
        <p:spPr>
          <a:xfrm>
            <a:off x="3254476" y="6015085"/>
            <a:ext cx="4029746" cy="484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Universidade Virtual do Estado de São Paulo</a:t>
            </a:r>
            <a:endParaRPr/>
          </a:p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50"/>
              <a:buFont typeface="Trebuchet MS"/>
              <a:buNone/>
            </a:pP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+55 11 3188.6780 /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2"/>
              </a:rPr>
              <a:t>casaluno@univesp.br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/  </a:t>
            </a:r>
            <a:r>
              <a:rPr lang="en-US" sz="1000" b="0" i="0" u="sng" strike="noStrike" cap="none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3"/>
              </a:rPr>
              <a:t>www.univesp.br</a:t>
            </a:r>
            <a:r>
              <a:rPr lang="en-US" sz="1000" b="0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/>
          </a:p>
        </p:txBody>
      </p:sp>
      <p:cxnSp>
        <p:nvCxnSpPr>
          <p:cNvPr id="85" name="Google Shape;85;p13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580444" y="274637"/>
            <a:ext cx="669666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F1E00"/>
              </a:buClr>
              <a:buSzPts val="3600"/>
              <a:buFont typeface="Trebuchet MS"/>
              <a:buNone/>
              <a:defRPr sz="3600" b="0" i="0" u="none" strike="noStrike" cap="none">
                <a:solidFill>
                  <a:srgbClr val="AF1E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580444" y="1600200"/>
            <a:ext cx="6696662" cy="4203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130000"/>
              </a:lnSpc>
              <a:spcBef>
                <a:spcPts val="640"/>
              </a:spcBef>
              <a:spcAft>
                <a:spcPts val="0"/>
              </a:spcAft>
              <a:buClr>
                <a:srgbClr val="808285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406400" algn="l" rtl="0">
              <a:lnSpc>
                <a:spcPct val="130000"/>
              </a:lnSpc>
              <a:spcBef>
                <a:spcPts val="560"/>
              </a:spcBef>
              <a:spcAft>
                <a:spcPts val="0"/>
              </a:spcAft>
              <a:buClr>
                <a:srgbClr val="808285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381000" algn="l" rtl="0">
              <a:lnSpc>
                <a:spcPct val="130000"/>
              </a:lnSpc>
              <a:spcBef>
                <a:spcPts val="480"/>
              </a:spcBef>
              <a:spcAft>
                <a:spcPts val="0"/>
              </a:spcAft>
              <a:buClr>
                <a:srgbClr val="808285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355600" algn="l" rtl="0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355600" algn="l" rtl="0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Clr>
                <a:srgbClr val="808285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580444" y="6134707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BACAE"/>
              </a:buClr>
              <a:buSzPts val="1200"/>
              <a:buFont typeface="Trebuchet MS"/>
              <a:buNone/>
              <a:defRPr sz="1200" b="0" i="0" u="none" strike="noStrike" cap="none">
                <a:solidFill>
                  <a:srgbClr val="ABACA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rebuchet MS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cxnSp>
        <p:nvCxnSpPr>
          <p:cNvPr id="9" name="Google Shape;9;p1"/>
          <p:cNvCxnSpPr/>
          <p:nvPr/>
        </p:nvCxnSpPr>
        <p:spPr>
          <a:xfrm rot="10800000" flipH="1">
            <a:off x="136076" y="0"/>
            <a:ext cx="1224289" cy="6895548"/>
          </a:xfrm>
          <a:prstGeom prst="straightConnector1">
            <a:avLst/>
          </a:prstGeom>
          <a:noFill/>
          <a:ln w="12700" cap="flat" cmpd="sng">
            <a:solidFill>
              <a:srgbClr val="AF1E23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0" name="Google Shape;10;p1" descr="logounivesp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515422" y="6134707"/>
            <a:ext cx="1148060" cy="38459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f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f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>
            <a:spLocks noGrp="1"/>
          </p:cNvSpPr>
          <p:nvPr>
            <p:ph type="subTitle" idx="1"/>
          </p:nvPr>
        </p:nvSpPr>
        <p:spPr>
          <a:xfrm>
            <a:off x="1393371" y="4601676"/>
            <a:ext cx="7206343" cy="1733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pt-BR" b="1" dirty="0"/>
              <a:t>Curso: Bacharelado em Ciência de Dados </a:t>
            </a:r>
            <a:br>
              <a:rPr lang="pt-BR" b="1" dirty="0"/>
            </a:br>
            <a:r>
              <a:rPr lang="pt-BR" b="1" dirty="0"/>
              <a:t>Turma: 004 - Grupo 2</a:t>
            </a:r>
            <a:br>
              <a:rPr lang="pt-BR" b="1" dirty="0"/>
            </a:br>
            <a:r>
              <a:rPr lang="pt-BR" b="1" dirty="0"/>
              <a:t>Orientador: Prof. Gustavo Figueredo Rodrigues de Sousa</a:t>
            </a:r>
            <a:br>
              <a:rPr lang="pt-BR" b="1" dirty="0"/>
            </a:br>
            <a:r>
              <a:rPr lang="pt-BR" b="1" dirty="0"/>
              <a:t>São Paulo - 2026</a:t>
            </a:r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xmlns="" id="{667DF592-CF9A-8B6E-39BC-5F89D39CB5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9456" y="3392668"/>
            <a:ext cx="7358743" cy="1114017"/>
          </a:xfrm>
        </p:spPr>
        <p:txBody>
          <a:bodyPr/>
          <a:lstStyle/>
          <a:p>
            <a:r>
              <a:rPr lang="pt-BR" sz="1600" dirty="0"/>
              <a:t/>
            </a:r>
            <a:br>
              <a:rPr lang="pt-BR" sz="1600" dirty="0"/>
            </a:br>
            <a:r>
              <a:rPr lang="pt-BR" sz="2000" b="1" dirty="0"/>
              <a:t>Análise de Viabilidade Técnica e Jurídica no Uso da Inteligência Artificial para Apoio à Identificação de Pessoas Desaparecidas</a:t>
            </a:r>
            <a:r>
              <a:rPr lang="pt-BR" sz="2000" dirty="0"/>
              <a:t/>
            </a:r>
            <a:br>
              <a:rPr lang="pt-BR" sz="2000" dirty="0"/>
            </a:br>
            <a:endParaRPr lang="pt-BR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xfrm>
            <a:off x="1828800" y="274637"/>
            <a:ext cx="6405353" cy="581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900"/>
            </a:pP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>     </a:t>
            </a:r>
            <a:br>
              <a:rPr lang="en-US" dirty="0"/>
            </a:br>
            <a:r>
              <a:rPr lang="en-US" dirty="0"/>
              <a:t>Nome dos </a:t>
            </a:r>
            <a:r>
              <a:rPr lang="en-US" dirty="0" err="1"/>
              <a:t>Alunos</a:t>
            </a:r>
            <a:r>
              <a:rPr lang="en-US" dirty="0"/>
              <a:t/>
            </a:r>
            <a:br>
              <a:rPr lang="en-US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en-US" dirty="0"/>
              <a:t/>
            </a:r>
            <a:br>
              <a:rPr lang="en-US" dirty="0"/>
            </a:br>
            <a:endParaRPr dirty="0"/>
          </a:p>
        </p:txBody>
      </p:sp>
      <p:sp>
        <p:nvSpPr>
          <p:cNvPr id="101" name="Google Shape;101;p15"/>
          <p:cNvSpPr/>
          <p:nvPr/>
        </p:nvSpPr>
        <p:spPr>
          <a:xfrm>
            <a:off x="6993850" y="4752500"/>
            <a:ext cx="2150100" cy="2105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7212950" y="5124975"/>
            <a:ext cx="1638300" cy="14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rPr>
              <a:t>Deixem</a:t>
            </a:r>
            <a:r>
              <a:rPr lang="en-US" sz="1600" dirty="0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rPr>
              <a:t> sempre um </a:t>
            </a:r>
            <a:r>
              <a:rPr lang="en-US" sz="1600" dirty="0" err="1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rPr>
              <a:t>espaço</a:t>
            </a:r>
            <a:r>
              <a:rPr lang="en-US" sz="1600" dirty="0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rPr>
              <a:t> no canto para o </a:t>
            </a:r>
            <a:r>
              <a:rPr lang="en-US" sz="1600" dirty="0" err="1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rPr>
              <a:t>vídeo</a:t>
            </a:r>
            <a:r>
              <a:rPr lang="en-US" sz="1600" dirty="0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rPr>
              <a:t> de </a:t>
            </a:r>
            <a:r>
              <a:rPr lang="en-US" sz="1600" dirty="0" err="1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rPr>
              <a:t>vocês</a:t>
            </a:r>
            <a:r>
              <a:rPr lang="en-US" sz="1600" dirty="0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r>
              <a:rPr lang="en-US" sz="1600" dirty="0" err="1">
                <a:solidFill>
                  <a:srgbClr val="808285"/>
                </a:solidFill>
                <a:latin typeface="Trebuchet MS"/>
                <a:ea typeface="Trebuchet MS"/>
                <a:cs typeface="Trebuchet MS"/>
                <a:sym typeface="Trebuchet MS"/>
              </a:rPr>
              <a:t>apresentando</a:t>
            </a:r>
            <a:endParaRPr sz="1600" dirty="0">
              <a:solidFill>
                <a:srgbClr val="808285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xmlns="" id="{C164E6DA-19FF-5668-C343-D75AFA2312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11085" y="1132115"/>
            <a:ext cx="6623067" cy="3344559"/>
          </a:xfrm>
        </p:spPr>
        <p:txBody>
          <a:bodyPr/>
          <a:lstStyle/>
          <a:p>
            <a:pPr marL="25400" indent="0" algn="ctr">
              <a:buNone/>
            </a:pPr>
            <a:r>
              <a:rPr lang="pt-BR" sz="2400" dirty="0"/>
              <a:t>Artemio Costa </a:t>
            </a:r>
            <a:r>
              <a:rPr lang="pt-BR" sz="2400" dirty="0" err="1"/>
              <a:t>Canossa</a:t>
            </a:r>
            <a:r>
              <a:rPr lang="pt-BR" sz="2400" dirty="0"/>
              <a:t/>
            </a:r>
            <a:br>
              <a:rPr lang="pt-BR" sz="2400" dirty="0"/>
            </a:br>
            <a:r>
              <a:rPr lang="pt-BR" sz="2400" dirty="0"/>
              <a:t>Bruna de Carvalho Regis</a:t>
            </a:r>
            <a:br>
              <a:rPr lang="pt-BR" sz="2400" dirty="0"/>
            </a:br>
            <a:r>
              <a:rPr lang="pt-BR" sz="2400" dirty="0"/>
              <a:t>Fernando Bandeira Soares</a:t>
            </a:r>
            <a:br>
              <a:rPr lang="pt-BR" sz="2400" dirty="0"/>
            </a:br>
            <a:r>
              <a:rPr lang="pt-BR" sz="2400" dirty="0"/>
              <a:t>Kelly Cristina </a:t>
            </a:r>
            <a:r>
              <a:rPr lang="pt-BR" sz="2400" dirty="0" err="1"/>
              <a:t>Maximo</a:t>
            </a:r>
            <a:r>
              <a:rPr lang="pt-BR" sz="2400" dirty="0"/>
              <a:t> de Almeida</a:t>
            </a:r>
            <a:br>
              <a:rPr lang="pt-BR" sz="2400" dirty="0"/>
            </a:br>
            <a:r>
              <a:rPr lang="pt-BR" sz="2400" dirty="0"/>
              <a:t>Rafael Oliveira da Cruz</a:t>
            </a:r>
            <a:br>
              <a:rPr lang="pt-BR" sz="2400" dirty="0"/>
            </a:br>
            <a:r>
              <a:rPr lang="pt-BR" sz="2400" dirty="0"/>
              <a:t>Valdina Alves Cogue</a:t>
            </a:r>
          </a:p>
          <a:p>
            <a:pPr algn="ctr"/>
            <a:endParaRPr lang="pt-BR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 txBox="1">
            <a:spLocks noGrp="1"/>
          </p:cNvSpPr>
          <p:nvPr>
            <p:ph type="title"/>
          </p:nvPr>
        </p:nvSpPr>
        <p:spPr>
          <a:xfrm>
            <a:off x="1005744" y="5016500"/>
            <a:ext cx="6914269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rebuchet MS"/>
              <a:buNone/>
            </a:pPr>
            <a:r>
              <a:rPr lang="en-US" dirty="0" err="1"/>
              <a:t>Problema</a:t>
            </a:r>
            <a:r>
              <a:rPr lang="en-US" dirty="0"/>
              <a:t>/</a:t>
            </a:r>
            <a:r>
              <a:rPr lang="en-US" dirty="0" err="1"/>
              <a:t>Contexto</a:t>
            </a:r>
            <a:endParaRPr lang="en-US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60FB3D63-9E55-5020-416D-A79E0E451564}"/>
              </a:ext>
            </a:extLst>
          </p:cNvPr>
          <p:cNvSpPr txBox="1"/>
          <p:nvPr/>
        </p:nvSpPr>
        <p:spPr>
          <a:xfrm>
            <a:off x="1371601" y="653143"/>
            <a:ext cx="7434942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400" dirty="0">
              <a:latin typeface="Trebuchet MS" panose="020B0603020202020204" pitchFamily="34" charset="0"/>
            </a:endParaRPr>
          </a:p>
          <a:p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O desaparecimento de pessoas constitui um problema social e humanitário relevante no Brasil.</a:t>
            </a:r>
          </a:p>
          <a:p>
            <a:endParaRPr lang="pt-BR" sz="2400" dirty="0">
              <a:solidFill>
                <a:schemeClr val="bg1"/>
              </a:solidFill>
              <a:latin typeface="Trebuchet MS" panose="020B0603020202020204" pitchFamily="34" charset="0"/>
            </a:endParaRPr>
          </a:p>
          <a:p>
            <a:pPr marL="285750" lvl="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Elevado número de casos</a:t>
            </a:r>
          </a:p>
          <a:p>
            <a:pPr marL="285750" lvl="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Fragmentação de bases de dados</a:t>
            </a:r>
          </a:p>
          <a:p>
            <a:pPr marL="285750" lvl="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Crescente uso de tecnologias baseadas em inteligência artificial</a:t>
            </a:r>
          </a:p>
          <a:p>
            <a:pPr marL="285750" lvl="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Lacunas técnicas, jurídicas e éticas</a:t>
            </a:r>
          </a:p>
          <a:p>
            <a:endParaRPr lang="pt-B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>
            <a:spLocks noGrp="1"/>
          </p:cNvSpPr>
          <p:nvPr>
            <p:ph type="title"/>
          </p:nvPr>
        </p:nvSpPr>
        <p:spPr>
          <a:xfrm>
            <a:off x="1580444" y="274637"/>
            <a:ext cx="6747127" cy="628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pt-BR" dirty="0"/>
              <a:t>Motivação do trabalho</a:t>
            </a:r>
          </a:p>
        </p:txBody>
      </p:sp>
      <p:sp>
        <p:nvSpPr>
          <p:cNvPr id="113" name="Google Shape;113;p17"/>
          <p:cNvSpPr txBox="1">
            <a:spLocks noGrp="1"/>
          </p:cNvSpPr>
          <p:nvPr>
            <p:ph type="body" idx="1"/>
          </p:nvPr>
        </p:nvSpPr>
        <p:spPr>
          <a:xfrm>
            <a:off x="1110343" y="1880734"/>
            <a:ext cx="5127172" cy="2786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100000"/>
              </a:lnSpc>
            </a:pPr>
            <a:r>
              <a:rPr lang="pt-BR" sz="2000" dirty="0"/>
              <a:t> Uso crescente do reconhecimento facial em contextos de segurança pública </a:t>
            </a:r>
          </a:p>
          <a:p>
            <a:pPr>
              <a:lnSpc>
                <a:spcPct val="100000"/>
              </a:lnSpc>
            </a:pPr>
            <a:r>
              <a:rPr lang="pt-BR" sz="2000" dirty="0"/>
              <a:t> Ausência de regulamentação específica para aplicação humanitária </a:t>
            </a:r>
          </a:p>
          <a:p>
            <a:pPr>
              <a:lnSpc>
                <a:spcPct val="100000"/>
              </a:lnSpc>
            </a:pPr>
            <a:r>
              <a:rPr lang="pt-BR" sz="2000" dirty="0"/>
              <a:t> Riscos técnicos, jurídicos e éticos no tratamento de dados biométricos</a:t>
            </a: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SzPts val="2240"/>
              <a:buNone/>
            </a:pPr>
            <a:endParaRPr sz="2240" baseline="30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9079FD09-E306-2770-AEE7-FE591D3BE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198" y="2362200"/>
            <a:ext cx="2893180" cy="15022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>
            <a:spLocks noGrp="1"/>
          </p:cNvSpPr>
          <p:nvPr>
            <p:ph type="title"/>
          </p:nvPr>
        </p:nvSpPr>
        <p:spPr>
          <a:xfrm>
            <a:off x="820687" y="4406900"/>
            <a:ext cx="6914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rebuchet MS"/>
              <a:buNone/>
            </a:pPr>
            <a:r>
              <a:rPr lang="en-US" dirty="0" err="1"/>
              <a:t>Objetivo</a:t>
            </a:r>
            <a:endParaRPr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xmlns="" id="{AF7FF256-B3C5-AB65-6A78-B948F69719F9}"/>
              </a:ext>
            </a:extLst>
          </p:cNvPr>
          <p:cNvSpPr txBox="1"/>
          <p:nvPr/>
        </p:nvSpPr>
        <p:spPr>
          <a:xfrm>
            <a:off x="1458686" y="1584797"/>
            <a:ext cx="7391400" cy="215443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endParaRPr lang="pt-BR" sz="2400" dirty="0">
              <a:latin typeface="Trebuchet MS" panose="020B0603020202020204" pitchFamily="34" charset="0"/>
            </a:endParaRPr>
          </a:p>
          <a:p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Analisar a viabilidade técnica e jurídica do uso da inteligência artificial, especialmente do reconhecimento facial, como apoio à localização e identificação de pessoas desaparecidas no Brasil.</a:t>
            </a:r>
          </a:p>
          <a:p>
            <a:endParaRPr lang="pt-B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1850570" y="285522"/>
            <a:ext cx="6426479" cy="726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SzPts val="900"/>
            </a:pPr>
            <a:r>
              <a:rPr lang="pt-BR" dirty="0"/>
              <a:t>Objetivos específicos</a:t>
            </a:r>
            <a:br>
              <a:rPr lang="pt-BR" dirty="0"/>
            </a:br>
            <a:endParaRPr dirty="0"/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1415143" y="1251857"/>
            <a:ext cx="7151914" cy="410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pt-BR" sz="2400" dirty="0"/>
              <a:t>Apresentar fundamentos técnicos do reconhecimento facial </a:t>
            </a:r>
          </a:p>
          <a:p>
            <a:r>
              <a:rPr lang="pt-BR" sz="2400" dirty="0"/>
              <a:t> Identificar limitações técnicas e vieses algorítmicos </a:t>
            </a:r>
          </a:p>
          <a:p>
            <a:r>
              <a:rPr lang="pt-BR" sz="2400" dirty="0"/>
              <a:t>Analisar o marco jurídico brasileiro aplicável </a:t>
            </a:r>
          </a:p>
          <a:p>
            <a:r>
              <a:rPr lang="pt-BR" sz="2400" dirty="0"/>
              <a:t>Comparar experiências internacionais </a:t>
            </a:r>
          </a:p>
          <a:p>
            <a:r>
              <a:rPr lang="pt-BR" sz="2400" dirty="0"/>
              <a:t>Propor diretrizes de governança jurídica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lang="en-US" sz="2240" baseline="300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lang="en-US" sz="2240" baseline="300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lang="en-US" sz="2240" baseline="300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lang="en-US" sz="2240" baseline="300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lang="en-US" sz="2240" baseline="300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lang="en-US" sz="2240" baseline="30000" dirty="0"/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SzPts val="2240"/>
              <a:buNone/>
            </a:pPr>
            <a:endParaRPr sz="2240" baseline="30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>
            <a:spLocks noGrp="1"/>
          </p:cNvSpPr>
          <p:nvPr>
            <p:ph type="title"/>
          </p:nvPr>
        </p:nvSpPr>
        <p:spPr>
          <a:xfrm>
            <a:off x="820687" y="4406900"/>
            <a:ext cx="6914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rebuchet MS"/>
              <a:buNone/>
            </a:pPr>
            <a:r>
              <a:rPr lang="en-US" dirty="0" err="1"/>
              <a:t>Fundamentação</a:t>
            </a:r>
            <a:r>
              <a:rPr lang="en-US" dirty="0"/>
              <a:t>/</a:t>
            </a:r>
            <a:r>
              <a:rPr lang="en-US" dirty="0" err="1"/>
              <a:t>Referencial</a:t>
            </a:r>
            <a:endParaRPr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xmlns="" id="{0DC093C4-1B12-C776-9763-A09685AAB99E}"/>
              </a:ext>
            </a:extLst>
          </p:cNvPr>
          <p:cNvSpPr txBox="1"/>
          <p:nvPr/>
        </p:nvSpPr>
        <p:spPr>
          <a:xfrm>
            <a:off x="1426030" y="1324198"/>
            <a:ext cx="6914400" cy="224676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chemeClr val="bg1"/>
                </a:solidFill>
                <a:latin typeface="Trebuchet MS" panose="020B0603020202020204" pitchFamily="34" charset="0"/>
              </a:rPr>
              <a:t>Inteligência artificial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chemeClr val="bg1"/>
                </a:solidFill>
                <a:latin typeface="Trebuchet MS" panose="020B0603020202020204" pitchFamily="34" charset="0"/>
              </a:rPr>
              <a:t>Reconhecimento facial e biometria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chemeClr val="bg1"/>
                </a:solidFill>
                <a:latin typeface="Trebuchet MS" panose="020B0603020202020204" pitchFamily="34" charset="0"/>
              </a:rPr>
              <a:t>Vieses algorítmicos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chemeClr val="bg1"/>
                </a:solidFill>
                <a:latin typeface="Trebuchet MS" panose="020B0603020202020204" pitchFamily="34" charset="0"/>
              </a:rPr>
              <a:t>Proteção de dados pessoais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chemeClr val="bg1"/>
                </a:solidFill>
                <a:latin typeface="Trebuchet MS" panose="020B0603020202020204" pitchFamily="34" charset="0"/>
              </a:rPr>
              <a:t>Direitos fundamentais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>
            <a:spLocks noGrp="1"/>
          </p:cNvSpPr>
          <p:nvPr>
            <p:ph type="title"/>
          </p:nvPr>
        </p:nvSpPr>
        <p:spPr>
          <a:xfrm>
            <a:off x="1580443" y="274637"/>
            <a:ext cx="7356727" cy="69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SzPts val="900"/>
            </a:pPr>
            <a:r>
              <a:rPr lang="pt-BR" sz="2800" dirty="0"/>
              <a:t>Aspectos técnicos do reconhecimento facial</a:t>
            </a:r>
            <a:r>
              <a:rPr lang="pt-BR" dirty="0"/>
              <a:t/>
            </a:r>
            <a:br>
              <a:rPr lang="pt-BR" dirty="0"/>
            </a:br>
            <a:endParaRPr dirty="0"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1"/>
          </p:nvPr>
        </p:nvSpPr>
        <p:spPr>
          <a:xfrm>
            <a:off x="1415143" y="1545771"/>
            <a:ext cx="7244921" cy="3233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pt-BR" sz="2000" dirty="0"/>
              <a:t>Principais etapas do processo:</a:t>
            </a:r>
          </a:p>
          <a:p>
            <a:pPr lvl="0"/>
            <a:r>
              <a:rPr lang="pt-BR" sz="2000" dirty="0"/>
              <a:t>Detecção facial</a:t>
            </a:r>
          </a:p>
          <a:p>
            <a:pPr lvl="0"/>
            <a:r>
              <a:rPr lang="pt-BR" sz="2000" dirty="0"/>
              <a:t>Pré-processamento da imagem</a:t>
            </a:r>
          </a:p>
          <a:p>
            <a:pPr lvl="0"/>
            <a:r>
              <a:rPr lang="pt-BR" sz="2000" dirty="0"/>
              <a:t>Extração de características (</a:t>
            </a:r>
            <a:r>
              <a:rPr lang="pt-BR" sz="2000" dirty="0" err="1"/>
              <a:t>embeddings</a:t>
            </a:r>
            <a:r>
              <a:rPr lang="pt-BR" sz="2000" dirty="0"/>
              <a:t>)</a:t>
            </a:r>
          </a:p>
          <a:p>
            <a:pPr lvl="0"/>
            <a:r>
              <a:rPr lang="pt-BR" sz="2000" dirty="0"/>
              <a:t>Comparação biométrica (1:1 e 1:N)</a:t>
            </a:r>
          </a:p>
          <a:p>
            <a:r>
              <a:rPr lang="pt-BR" sz="2000" dirty="0"/>
              <a:t>Modelos de referência: </a:t>
            </a:r>
            <a:r>
              <a:rPr lang="pt-BR" sz="2000" dirty="0" err="1"/>
              <a:t>DeepFace</a:t>
            </a:r>
            <a:r>
              <a:rPr lang="pt-BR" sz="2000" dirty="0"/>
              <a:t>, </a:t>
            </a:r>
            <a:r>
              <a:rPr lang="pt-BR" sz="2000" dirty="0" err="1"/>
              <a:t>FaceNet</a:t>
            </a:r>
            <a:r>
              <a:rPr lang="pt-BR" sz="2000" dirty="0"/>
              <a:t> e </a:t>
            </a:r>
            <a:r>
              <a:rPr lang="pt-BR" sz="2000" dirty="0" err="1"/>
              <a:t>ArcFace</a:t>
            </a:r>
            <a:r>
              <a:rPr lang="pt-BR" sz="2000"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>
            <a:spLocks noGrp="1"/>
          </p:cNvSpPr>
          <p:nvPr>
            <p:ph type="title"/>
          </p:nvPr>
        </p:nvSpPr>
        <p:spPr>
          <a:xfrm>
            <a:off x="820687" y="4406900"/>
            <a:ext cx="6914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rebuchet MS"/>
              <a:buNone/>
            </a:pPr>
            <a:r>
              <a:rPr lang="en-US" dirty="0" err="1"/>
              <a:t>Metodologia</a:t>
            </a:r>
            <a:endParaRPr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xmlns="" id="{3740BC1A-B3E8-1F6F-3E50-BBE3D3BFD20A}"/>
              </a:ext>
            </a:extLst>
          </p:cNvPr>
          <p:cNvSpPr txBox="1"/>
          <p:nvPr/>
        </p:nvSpPr>
        <p:spPr>
          <a:xfrm>
            <a:off x="1317171" y="1281549"/>
            <a:ext cx="7315200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sz="2000">
                <a:latin typeface="Calibri"/>
              </a:rPr>
              <a:t>Abordagem qualitativa: análise bibliográfica e documental (eixo jurídico)</a:t>
            </a:r>
          </a:p>
          <a:p>
            <a:r>
              <a:rPr sz="2000">
                <a:latin typeface="Calibri"/>
              </a:rPr>
              <a:t>Abordagem quantitativa: auditoria empírica de viés (eixo de Ciência de Dados)</a:t>
            </a:r>
          </a:p>
          <a:p>
            <a:pPr lvl="1"/>
            <a:r>
              <a:rPr sz="1600">
                <a:latin typeface="Calibri"/>
              </a:rPr>
              <a:t>Auditoria de modelo pré-treinado (ArcFace) sobre bases públicas — sem treino do zero</a:t>
            </a:r>
          </a:p>
          <a:p>
            <a:pPr lvl="1"/>
            <a:r>
              <a:rPr sz="1600">
                <a:latin typeface="Calibri"/>
              </a:rPr>
              <a:t>Sem uso de imagens de pessoas reais desaparecidas (conformidade ética/LGPD)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3"/>
          <p:cNvSpPr txBox="1">
            <a:spLocks noGrp="1"/>
          </p:cNvSpPr>
          <p:nvPr>
            <p:ph type="title"/>
          </p:nvPr>
        </p:nvSpPr>
        <p:spPr>
          <a:xfrm>
            <a:off x="1839686" y="337457"/>
            <a:ext cx="5671458" cy="740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SzPts val="900"/>
            </a:pPr>
            <a:r>
              <a:rPr lang="pt-BR" dirty="0"/>
              <a:t>Métricas e limitações</a:t>
            </a:r>
            <a:br>
              <a:rPr lang="pt-BR" dirty="0"/>
            </a:br>
            <a:endParaRPr dirty="0"/>
          </a:p>
        </p:txBody>
      </p:sp>
      <p:sp>
        <p:nvSpPr>
          <p:cNvPr id="146" name="Google Shape;146;p23"/>
          <p:cNvSpPr txBox="1">
            <a:spLocks noGrp="1"/>
          </p:cNvSpPr>
          <p:nvPr>
            <p:ph type="body" idx="1"/>
          </p:nvPr>
        </p:nvSpPr>
        <p:spPr>
          <a:xfrm>
            <a:off x="1621970" y="1175658"/>
            <a:ext cx="6259287" cy="4430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pt-BR" sz="2000" dirty="0"/>
              <a:t>Métricas discutidas na literatura:</a:t>
            </a:r>
          </a:p>
          <a:p>
            <a:pPr lvl="0"/>
            <a:r>
              <a:rPr lang="pt-BR" sz="2000" dirty="0"/>
              <a:t>Acurácia</a:t>
            </a:r>
          </a:p>
          <a:p>
            <a:pPr lvl="0"/>
            <a:r>
              <a:rPr lang="pt-BR" sz="2000" dirty="0"/>
              <a:t>Precisão</a:t>
            </a:r>
          </a:p>
          <a:p>
            <a:pPr lvl="0"/>
            <a:r>
              <a:rPr lang="pt-BR" sz="2000" dirty="0"/>
              <a:t>Recall</a:t>
            </a:r>
          </a:p>
          <a:p>
            <a:pPr lvl="0"/>
            <a:r>
              <a:rPr lang="pt-BR" sz="2000" dirty="0"/>
              <a:t>Falsos positivos e falsos negativos</a:t>
            </a:r>
          </a:p>
          <a:p>
            <a:r>
              <a:rPr lang="pt-BR" sz="2000" dirty="0"/>
              <a:t>Limitações relevantes:</a:t>
            </a:r>
          </a:p>
          <a:p>
            <a:pPr lvl="0"/>
            <a:r>
              <a:rPr lang="pt-BR" sz="2000" dirty="0"/>
              <a:t>Envelhecimento facial</a:t>
            </a:r>
          </a:p>
          <a:p>
            <a:pPr lvl="0"/>
            <a:r>
              <a:rPr lang="pt-BR" sz="2000" dirty="0"/>
              <a:t>Baixa qualidade de imagens</a:t>
            </a:r>
          </a:p>
          <a:p>
            <a:pPr lvl="0"/>
            <a:r>
              <a:rPr lang="pt-BR" sz="2000" dirty="0"/>
              <a:t>Bases de dados pouco representativas</a:t>
            </a: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SzPts val="2240"/>
              <a:buNone/>
            </a:pPr>
            <a:endParaRPr sz="2240" baseline="30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>
            <a:spLocks noGrp="1"/>
          </p:cNvSpPr>
          <p:nvPr>
            <p:ph type="title"/>
          </p:nvPr>
        </p:nvSpPr>
        <p:spPr>
          <a:xfrm>
            <a:off x="820687" y="4406900"/>
            <a:ext cx="6914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rebuchet MS"/>
              <a:buNone/>
            </a:pPr>
            <a:r>
              <a:t>Vieses Algorítmicos</a:t>
            </a:r>
            <a:endParaRPr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xmlns="" id="{2DA3F765-AFBF-86B8-77C7-D80B04461C6F}"/>
              </a:ext>
            </a:extLst>
          </p:cNvPr>
          <p:cNvSpPr txBox="1"/>
          <p:nvPr/>
        </p:nvSpPr>
        <p:spPr>
          <a:xfrm>
            <a:off x="1447800" y="925286"/>
            <a:ext cx="6716486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chemeClr val="bg1"/>
                </a:solidFill>
                <a:latin typeface="Trebuchet MS" panose="020B0603020202020204" pitchFamily="34" charset="0"/>
              </a:rPr>
              <a:t>Vieses algorítmicos</a:t>
            </a:r>
            <a:endParaRPr lang="pt-BR" sz="2400" dirty="0">
              <a:solidFill>
                <a:schemeClr val="bg1"/>
              </a:solidFill>
              <a:latin typeface="Trebuchet MS" panose="020B0603020202020204" pitchFamily="34" charset="0"/>
            </a:endParaRPr>
          </a:p>
          <a:p>
            <a:pPr marL="342900" lvl="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Erros algorítmicos não são neutros</a:t>
            </a:r>
          </a:p>
          <a:p>
            <a:pPr marL="342900" lvl="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Impacto desproporcional sobre: </a:t>
            </a:r>
          </a:p>
          <a:p>
            <a:pPr marL="342900" lvl="1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Pessoas negras</a:t>
            </a:r>
          </a:p>
          <a:p>
            <a:pPr marL="342900" lvl="1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Mulheres</a:t>
            </a:r>
          </a:p>
          <a:p>
            <a:pPr marL="342900" lvl="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Evidências em estudos nacionais e internacionais</a:t>
            </a:r>
          </a:p>
          <a:p>
            <a:endParaRPr lang="pt-BR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>
            <a:spLocks noGrp="1"/>
          </p:cNvSpPr>
          <p:nvPr>
            <p:ph type="title"/>
          </p:nvPr>
        </p:nvSpPr>
        <p:spPr>
          <a:xfrm>
            <a:off x="1709058" y="274637"/>
            <a:ext cx="6567986" cy="824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SzPts val="900"/>
            </a:pPr>
            <a:r>
              <a:rPr lang="pt-BR" b="1" dirty="0"/>
              <a:t>Contexto brasileiro</a:t>
            </a:r>
            <a:r>
              <a:rPr lang="pt-BR" dirty="0"/>
              <a:t/>
            </a:r>
            <a:br>
              <a:rPr lang="pt-BR" dirty="0"/>
            </a:br>
            <a:endParaRPr dirty="0"/>
          </a:p>
        </p:txBody>
      </p:sp>
      <p:sp>
        <p:nvSpPr>
          <p:cNvPr id="157" name="Google Shape;157;p25"/>
          <p:cNvSpPr txBox="1">
            <a:spLocks noGrp="1"/>
          </p:cNvSpPr>
          <p:nvPr>
            <p:ph type="body" idx="1"/>
          </p:nvPr>
        </p:nvSpPr>
        <p:spPr>
          <a:xfrm>
            <a:off x="1240971" y="1349828"/>
            <a:ext cx="7036073" cy="3407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pt-BR" sz="2400" dirty="0"/>
              <a:t>Bases de dados fragmentadas</a:t>
            </a:r>
          </a:p>
          <a:p>
            <a:pPr lvl="0"/>
            <a:r>
              <a:rPr lang="pt-BR" sz="2400" dirty="0"/>
              <a:t>Ausência de auditorias algorítmicas independentes</a:t>
            </a:r>
          </a:p>
          <a:p>
            <a:pPr lvl="0"/>
            <a:r>
              <a:rPr lang="pt-BR" sz="2400" dirty="0"/>
              <a:t>Casos documentados de identificações incorretas</a:t>
            </a:r>
          </a:p>
          <a:p>
            <a:pPr lvl="0"/>
            <a:r>
              <a:rPr lang="pt-BR" sz="2400" dirty="0"/>
              <a:t>Risco de discriminação estrutural</a:t>
            </a: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SzPts val="2240"/>
              <a:buNone/>
            </a:pPr>
            <a:endParaRPr sz="2240" baseline="30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Auditoria Empírica de Viés — Contribuição de Ciência de Dados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Auditoria de modelo pré-treinado ArcFace (ResNet-50), sem treino do zero</a:t>
            </a:r>
          </a:p>
          <a:p>
            <a:r>
              <a:rPr sz="2000">
                <a:latin typeface="Calibri"/>
              </a:rPr>
              <a:t>Bases públicas: LFW (6.000 pares) e FairFace (10.954 imagens rotuladas)</a:t>
            </a:r>
          </a:p>
          <a:p>
            <a:r>
              <a:rPr sz="2000">
                <a:latin typeface="Calibri"/>
              </a:rPr>
              <a:t>Verificação facial 1:1 por similaridade de cosseno entre embeddings</a:t>
            </a:r>
          </a:p>
          <a:p>
            <a:r>
              <a:rPr sz="2000">
                <a:latin typeface="Calibri"/>
              </a:rPr>
              <a:t>Limiar único + métricas: AUC, EER, FMR, FNMR e teste qui-quadrado</a:t>
            </a:r>
          </a:p>
          <a:p>
            <a:r>
              <a:rPr sz="2000">
                <a:latin typeface="Calibri"/>
              </a:rPr>
              <a:t>Reprodutível em Python (ONNX Runtime, scikit-learn) — sem GPU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Resultados — Desempenho de Verificação (LFW)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Calibri"/>
              </a:rPr>
              <a:t>AUC = 0,9911    •    EER = 3,72%    •    Acurácia = 96,85%</a:t>
            </a:r>
          </a:p>
          <a:p>
            <a:r>
              <a:rPr sz="1600" b="0">
                <a:latin typeface="Calibri"/>
              </a:rPr>
              <a:t>Alto desempenho em condições controladas — confirma a literatura</a:t>
            </a:r>
          </a:p>
        </p:txBody>
      </p:sp>
      <p:pic>
        <p:nvPicPr>
          <p:cNvPr id="4" name="Picture 3" descr="fig1_lfw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68880"/>
            <a:ext cx="7863840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Resultados — Viés Demográfico (FairFace)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Calibri"/>
              </a:rPr>
              <a:t>Disparidade de FMR = 3,72× entre grupos  (χ² = 80,1; p &lt; 0,001)</a:t>
            </a:r>
          </a:p>
          <a:p>
            <a:r>
              <a:rPr sz="1600" b="0">
                <a:latin typeface="Calibri"/>
              </a:rPr>
              <a:t>Grupo negro ≈ 2× a taxa de falso positivo do grupo branco</a:t>
            </a:r>
          </a:p>
          <a:p>
            <a:r>
              <a:rPr sz="1600" b="0">
                <a:latin typeface="Calibri"/>
              </a:rPr>
              <a:t>Mulheres não brancas as mais afetadas — replica o padrão Gender Shades</a:t>
            </a:r>
          </a:p>
        </p:txBody>
      </p:sp>
      <p:pic>
        <p:nvPicPr>
          <p:cNvPr id="4" name="Picture 3" descr="fig2_fairface_fm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651760"/>
            <a:ext cx="6766560" cy="380619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 txBox="1">
            <a:spLocks noGrp="1"/>
          </p:cNvSpPr>
          <p:nvPr>
            <p:ph type="title"/>
          </p:nvPr>
        </p:nvSpPr>
        <p:spPr>
          <a:xfrm>
            <a:off x="668287" y="5301343"/>
            <a:ext cx="5460370" cy="9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rebuchet MS"/>
              <a:buNone/>
            </a:pPr>
            <a:r>
              <a:t>Resultados — Marco Jurídico Brasileiro</a:t>
            </a:r>
            <a:endParaRPr lang="en-US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xmlns="" id="{10F07472-0C08-2DC7-2217-AEB0B9CEA6AB}"/>
              </a:ext>
            </a:extLst>
          </p:cNvPr>
          <p:cNvSpPr txBox="1"/>
          <p:nvPr/>
        </p:nvSpPr>
        <p:spPr>
          <a:xfrm>
            <a:off x="1349830" y="870857"/>
            <a:ext cx="4582884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 </a:t>
            </a:r>
          </a:p>
          <a:p>
            <a:r>
              <a:rPr lang="pt-BR" sz="2400" b="1" dirty="0">
                <a:solidFill>
                  <a:schemeClr val="bg1"/>
                </a:solidFill>
                <a:latin typeface="Trebuchet MS" panose="020B0603020202020204" pitchFamily="34" charset="0"/>
              </a:rPr>
              <a:t>Marco jurídico brasileiro</a:t>
            </a:r>
            <a:endParaRPr lang="pt-BR" sz="2400" dirty="0">
              <a:solidFill>
                <a:schemeClr val="bg1"/>
              </a:solidFill>
              <a:latin typeface="Trebuchet MS" panose="020B0603020202020204" pitchFamily="34" charset="0"/>
            </a:endParaRPr>
          </a:p>
          <a:p>
            <a:pPr marL="342900" lvl="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Constituição Federal de 1988</a:t>
            </a:r>
          </a:p>
          <a:p>
            <a:pPr marL="342900" lvl="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Lei Geral de Proteção de Dados Pessoais</a:t>
            </a:r>
          </a:p>
          <a:p>
            <a:pPr marL="342900" lvl="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Lei nº 13.812/2019 (Pessoas Desaparecidas)</a:t>
            </a:r>
          </a:p>
          <a:p>
            <a:pPr marL="342900" lvl="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Projeto de Lei nº 2.338/2023 (Marco Legal da IA)</a:t>
            </a:r>
          </a:p>
          <a:p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71C066A2-3EBE-B69C-3062-B9AD35B9B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642" y="1362073"/>
            <a:ext cx="2403093" cy="18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 txBox="1">
            <a:spLocks noGrp="1"/>
          </p:cNvSpPr>
          <p:nvPr>
            <p:ph type="title"/>
          </p:nvPr>
        </p:nvSpPr>
        <p:spPr>
          <a:xfrm>
            <a:off x="1580444" y="274637"/>
            <a:ext cx="6696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pt-BR" dirty="0"/>
              <a:t>Distinção jurídica</a:t>
            </a:r>
          </a:p>
        </p:txBody>
      </p:sp>
      <p:sp>
        <p:nvSpPr>
          <p:cNvPr id="168" name="Google Shape;168;p27"/>
          <p:cNvSpPr txBox="1">
            <a:spLocks noGrp="1"/>
          </p:cNvSpPr>
          <p:nvPr>
            <p:ph type="body" idx="1"/>
          </p:nvPr>
        </p:nvSpPr>
        <p:spPr>
          <a:xfrm>
            <a:off x="1580444" y="1578428"/>
            <a:ext cx="6772806" cy="4158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400" indent="0">
              <a:buNone/>
            </a:pPr>
            <a:r>
              <a:rPr lang="pt-BR" sz="2400" dirty="0"/>
              <a:t>Pessoas procuradas pela Justiça:</a:t>
            </a:r>
          </a:p>
          <a:p>
            <a:pPr lvl="0"/>
            <a:r>
              <a:rPr lang="pt-BR" sz="2400" dirty="0"/>
              <a:t>Existência de ordem judicial</a:t>
            </a:r>
          </a:p>
          <a:p>
            <a:pPr lvl="0"/>
            <a:r>
              <a:rPr lang="pt-BR" sz="2400" dirty="0"/>
              <a:t>Contexto de persecução penal</a:t>
            </a:r>
          </a:p>
          <a:p>
            <a:pPr marL="25400" indent="0">
              <a:buNone/>
            </a:pPr>
            <a:r>
              <a:rPr lang="pt-BR" sz="2400" dirty="0"/>
              <a:t>Pessoas desaparecidas:</a:t>
            </a:r>
          </a:p>
          <a:p>
            <a:pPr lvl="0"/>
            <a:r>
              <a:rPr lang="pt-BR" sz="2400" dirty="0"/>
              <a:t>Ausência de presunção de crime</a:t>
            </a:r>
          </a:p>
          <a:p>
            <a:pPr lvl="0"/>
            <a:r>
              <a:rPr lang="pt-BR" sz="2400" dirty="0"/>
              <a:t>Direito à autodeterminação</a:t>
            </a:r>
          </a:p>
          <a:p>
            <a:pPr lvl="0"/>
            <a:r>
              <a:rPr lang="pt-BR" sz="2400" dirty="0"/>
              <a:t>Maior sensibilidade jurídica</a:t>
            </a:r>
          </a:p>
          <a:p>
            <a:pPr marL="15875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</a:pPr>
            <a:endParaRPr lang="pt-BR" sz="2240" baseline="30000" dirty="0"/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endParaRPr lang="pt-BR" sz="2240" baseline="30000" dirty="0"/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endParaRPr lang="pt-BR" sz="2240" baseline="30000" dirty="0"/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SzPts val="2240"/>
              <a:buNone/>
            </a:pPr>
            <a:endParaRPr sz="2240" baseline="30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8"/>
          <p:cNvSpPr txBox="1">
            <a:spLocks noGrp="1"/>
          </p:cNvSpPr>
          <p:nvPr>
            <p:ph type="title"/>
          </p:nvPr>
        </p:nvSpPr>
        <p:spPr>
          <a:xfrm>
            <a:off x="859971" y="4406900"/>
            <a:ext cx="6875116" cy="916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rebuchet MS"/>
              <a:buNone/>
            </a:pPr>
            <a:r>
              <a:t>Experiências Internacionais</a:t>
            </a:r>
            <a:endParaRPr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xmlns="" id="{C04E3493-6CEF-B320-9077-46C915A1FCE6}"/>
              </a:ext>
            </a:extLst>
          </p:cNvPr>
          <p:cNvSpPr txBox="1"/>
          <p:nvPr/>
        </p:nvSpPr>
        <p:spPr>
          <a:xfrm>
            <a:off x="1317171" y="544287"/>
            <a:ext cx="729342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bg1"/>
              </a:buClr>
            </a:pPr>
            <a:r>
              <a:rPr lang="pt-BR" sz="2400" b="1" dirty="0">
                <a:solidFill>
                  <a:schemeClr val="bg1"/>
                </a:solidFill>
                <a:latin typeface="Trebuchet MS" panose="020B0603020202020204" pitchFamily="34" charset="0"/>
              </a:rPr>
              <a:t>Experiências internacionais</a:t>
            </a:r>
          </a:p>
          <a:p>
            <a:pPr marL="342900" indent="-342900">
              <a:buClr>
                <a:schemeClr val="bg1"/>
              </a:buClr>
              <a:buFont typeface="Trebuchet MS" panose="020B0603020202020204" pitchFamily="34" charset="0"/>
              <a:buChar char="•"/>
            </a:pPr>
            <a:endParaRPr lang="pt-BR" sz="2400" dirty="0">
              <a:solidFill>
                <a:schemeClr val="bg1"/>
              </a:solidFill>
              <a:latin typeface="Trebuchet MS" panose="020B0603020202020204" pitchFamily="34" charset="0"/>
            </a:endParaRPr>
          </a:p>
          <a:p>
            <a:pPr lvl="0">
              <a:buClr>
                <a:schemeClr val="bg1"/>
              </a:buClr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União Europeia – AI </a:t>
            </a:r>
            <a:r>
              <a:rPr lang="pt-BR" sz="2400" dirty="0" err="1">
                <a:solidFill>
                  <a:schemeClr val="bg1"/>
                </a:solidFill>
                <a:latin typeface="Trebuchet MS" panose="020B0603020202020204" pitchFamily="34" charset="0"/>
              </a:rPr>
              <a:t>Act</a:t>
            </a: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</a:p>
          <a:p>
            <a:pPr marL="342900" lvl="1" indent="-342900">
              <a:buClr>
                <a:schemeClr val="bg1"/>
              </a:buClr>
              <a:buFont typeface="Trebuchet MS" panose="020B0603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Uso humanitário permitido com salvaguardas</a:t>
            </a:r>
          </a:p>
          <a:p>
            <a:pPr marL="342900" lvl="1" indent="-342900">
              <a:buClr>
                <a:schemeClr val="bg1"/>
              </a:buClr>
              <a:buFont typeface="Trebuchet MS" panose="020B0603020202020204" pitchFamily="34" charset="0"/>
              <a:buChar char="•"/>
            </a:pPr>
            <a:endParaRPr lang="pt-BR" sz="2400" dirty="0">
              <a:solidFill>
                <a:schemeClr val="bg1"/>
              </a:solidFill>
              <a:latin typeface="Trebuchet MS" panose="020B0603020202020204" pitchFamily="34" charset="0"/>
            </a:endParaRPr>
          </a:p>
          <a:p>
            <a:pPr lvl="0">
              <a:buClr>
                <a:schemeClr val="bg1"/>
              </a:buClr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INTERPOL – I-</a:t>
            </a:r>
            <a:r>
              <a:rPr lang="pt-BR" sz="2400" dirty="0" err="1">
                <a:solidFill>
                  <a:schemeClr val="bg1"/>
                </a:solidFill>
                <a:latin typeface="Trebuchet MS" panose="020B0603020202020204" pitchFamily="34" charset="0"/>
              </a:rPr>
              <a:t>Familia</a:t>
            </a: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</a:p>
          <a:p>
            <a:pPr marL="342900" lvl="1" indent="-342900">
              <a:buClr>
                <a:schemeClr val="bg1"/>
              </a:buClr>
              <a:buFont typeface="Trebuchet MS" panose="020B0603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Separação entre bases criminais e humanitárias</a:t>
            </a:r>
          </a:p>
          <a:p>
            <a:pPr marL="342900" indent="-342900">
              <a:buClr>
                <a:schemeClr val="bg1"/>
              </a:buClr>
              <a:buFont typeface="Trebuchet MS" panose="020B0603020202020204" pitchFamily="34" charset="0"/>
              <a:buChar char="•"/>
            </a:pPr>
            <a:r>
              <a:rPr lang="pt-BR" sz="2400" dirty="0">
                <a:solidFill>
                  <a:schemeClr val="bg1"/>
                </a:solidFill>
                <a:latin typeface="Trebuchet MS" panose="020B0603020202020204" pitchFamily="34" charset="0"/>
              </a:rPr>
              <a:t>Governança e controle institucional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 txBox="1">
            <a:spLocks noGrp="1"/>
          </p:cNvSpPr>
          <p:nvPr>
            <p:ph type="title"/>
          </p:nvPr>
        </p:nvSpPr>
        <p:spPr>
          <a:xfrm>
            <a:off x="1883228" y="533399"/>
            <a:ext cx="5780315" cy="849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900"/>
            </a:pPr>
            <a:r>
              <a:rPr lang="pt-BR" dirty="0"/>
              <a:t/>
            </a:r>
            <a:br>
              <a:rPr lang="pt-BR" dirty="0"/>
            </a:br>
            <a:r>
              <a:rPr lang="pt-BR" dirty="0"/>
              <a:t>Resultados</a:t>
            </a:r>
            <a:br>
              <a:rPr lang="pt-BR" dirty="0"/>
            </a:br>
            <a:endParaRPr dirty="0"/>
          </a:p>
        </p:txBody>
      </p:sp>
      <p:sp>
        <p:nvSpPr>
          <p:cNvPr id="179" name="Google Shape;179;p29"/>
          <p:cNvSpPr txBox="1">
            <a:spLocks noGrp="1"/>
          </p:cNvSpPr>
          <p:nvPr>
            <p:ph type="body" idx="1"/>
          </p:nvPr>
        </p:nvSpPr>
        <p:spPr>
          <a:xfrm>
            <a:off x="1580450" y="1600200"/>
            <a:ext cx="6696600" cy="35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400" indent="0">
              <a:buNone/>
            </a:pPr>
            <a:r>
              <a:rPr lang="pt-BR" sz="2400" dirty="0"/>
              <a:t>·  A tecnologia apresenta potencial relevante </a:t>
            </a:r>
          </a:p>
          <a:p>
            <a:pPr marL="25400" indent="0">
              <a:buNone/>
            </a:pPr>
            <a:r>
              <a:rPr lang="pt-BR" sz="2400" dirty="0"/>
              <a:t>·  Persistem limitações técnicas importantes </a:t>
            </a:r>
          </a:p>
          <a:p>
            <a:pPr marL="25400" indent="0">
              <a:buNone/>
            </a:pPr>
            <a:r>
              <a:rPr lang="pt-BR" sz="2400" dirty="0"/>
              <a:t>·  Riscos jurídicos e éticos significativos </a:t>
            </a:r>
          </a:p>
          <a:p>
            <a:pPr marL="25400" indent="0">
              <a:buNone/>
            </a:pPr>
            <a:r>
              <a:rPr lang="pt-BR" sz="2400" dirty="0"/>
              <a:t>·  Uso indiscriminado não é viável</a:t>
            </a: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SzPts val="2240"/>
              <a:buNone/>
            </a:pPr>
            <a:endParaRPr sz="2240" baseline="30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>
            <a:spLocks noGrp="1"/>
          </p:cNvSpPr>
          <p:nvPr>
            <p:ph type="title"/>
          </p:nvPr>
        </p:nvSpPr>
        <p:spPr>
          <a:xfrm>
            <a:off x="820687" y="4406900"/>
            <a:ext cx="6914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rebuchet MS"/>
              <a:buNone/>
            </a:pPr>
            <a:r>
              <a:rPr lang="en-US"/>
              <a:t>Trabalhos futuros</a:t>
            </a:r>
            <a:endParaRPr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xmlns="" id="{06F564FE-843A-C140-8461-C0B7B9B1D2D4}"/>
              </a:ext>
            </a:extLst>
          </p:cNvPr>
          <p:cNvSpPr txBox="1"/>
          <p:nvPr/>
        </p:nvSpPr>
        <p:spPr>
          <a:xfrm>
            <a:off x="1382487" y="1494517"/>
            <a:ext cx="734785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sz="2000">
                <a:latin typeface="Calibri"/>
              </a:rPr>
              <a:t>Avaliar base de faces representativa da população brasileira</a:t>
            </a:r>
          </a:p>
          <a:p>
            <a:r>
              <a:rPr sz="2000">
                <a:latin typeface="Calibri"/>
              </a:rPr>
              <a:t>Estender a auditoria à identificação 1:N e a múltiplos modelos</a:t>
            </a:r>
          </a:p>
          <a:p>
            <a:r>
              <a:rPr sz="2000">
                <a:latin typeface="Calibri"/>
              </a:rPr>
              <a:t>Investigar envelhecimento facial (casos de crianças)</a:t>
            </a:r>
          </a:p>
          <a:p>
            <a:r>
              <a:rPr sz="2000">
                <a:latin typeface="Calibri"/>
              </a:rPr>
              <a:t>Propor protocolo de homologação de sistemas biométricos humanitários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1"/>
          <p:cNvSpPr txBox="1">
            <a:spLocks noGrp="1"/>
          </p:cNvSpPr>
          <p:nvPr>
            <p:ph type="title"/>
          </p:nvPr>
        </p:nvSpPr>
        <p:spPr>
          <a:xfrm>
            <a:off x="1415143" y="274637"/>
            <a:ext cx="6988627" cy="1663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SzPts val="900"/>
            </a:pPr>
            <a:r>
              <a:rPr lang="pt-BR" sz="2800" dirty="0"/>
              <a:t>A viabilidade do uso do reconhecimento facial para fins humanitários depende de:</a:t>
            </a:r>
            <a:endParaRPr sz="2800" dirty="0"/>
          </a:p>
        </p:txBody>
      </p:sp>
      <p:sp>
        <p:nvSpPr>
          <p:cNvPr id="190" name="Google Shape;190;p31"/>
          <p:cNvSpPr txBox="1">
            <a:spLocks noGrp="1"/>
          </p:cNvSpPr>
          <p:nvPr>
            <p:ph type="body" idx="1"/>
          </p:nvPr>
        </p:nvSpPr>
        <p:spPr>
          <a:xfrm>
            <a:off x="1415144" y="2057399"/>
            <a:ext cx="6487886" cy="2862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sz="2240" baseline="30000" dirty="0"/>
          </a:p>
          <a:p>
            <a:r>
              <a:rPr lang="pt-BR" sz="2800" dirty="0"/>
              <a:t>Base legal específica </a:t>
            </a:r>
          </a:p>
          <a:p>
            <a:r>
              <a:rPr lang="pt-BR" sz="2800" dirty="0"/>
              <a:t>Governança institucional adequada </a:t>
            </a:r>
          </a:p>
          <a:p>
            <a:r>
              <a:rPr lang="pt-BR" sz="2800" dirty="0"/>
              <a:t>Supervisão humana obrigatória </a:t>
            </a:r>
          </a:p>
          <a:p>
            <a:r>
              <a:rPr lang="pt-BR" sz="2800" dirty="0"/>
              <a:t>Auditoria algorítmica contínua</a:t>
            </a:r>
          </a:p>
          <a:p>
            <a:pPr marL="0" marR="0" lvl="0" indent="0" algn="l" rtl="0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SzPts val="2240"/>
              <a:buNone/>
            </a:pPr>
            <a:endParaRPr sz="2240" baseline="30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2"/>
          <p:cNvSpPr txBox="1">
            <a:spLocks noGrp="1"/>
          </p:cNvSpPr>
          <p:nvPr>
            <p:ph type="title"/>
          </p:nvPr>
        </p:nvSpPr>
        <p:spPr>
          <a:xfrm>
            <a:off x="1223692" y="2190830"/>
            <a:ext cx="6696600" cy="1142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-US" sz="1700" b="1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Encerramento</a:t>
            </a:r>
            <a:endParaRPr sz="1700" b="1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-US" sz="11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11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Obrigado</a:t>
            </a:r>
            <a:r>
              <a:rPr lang="en-US" sz="11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sz="11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-US" sz="11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Contato</a:t>
            </a:r>
            <a:endParaRPr sz="11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lang="en-US" sz="11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QR code do </a:t>
            </a:r>
            <a:r>
              <a:rPr lang="en-US" sz="11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projeto</a:t>
            </a:r>
            <a:r>
              <a:rPr lang="en-US" sz="11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1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artigo</a:t>
            </a:r>
            <a:r>
              <a:rPr lang="en-US" sz="11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1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r>
              <a:rPr lang="en-US" sz="11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100" dirty="0" err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opcional</a:t>
            </a:r>
            <a:r>
              <a:rPr lang="en-US" sz="11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nivesp  1">
      <a:dk1>
        <a:srgbClr val="808285"/>
      </a:dk1>
      <a:lt1>
        <a:srgbClr val="FFFFFF"/>
      </a:lt1>
      <a:dk2>
        <a:srgbClr val="000000"/>
      </a:dk2>
      <a:lt2>
        <a:srgbClr val="E6E7E8"/>
      </a:lt2>
      <a:accent1>
        <a:srgbClr val="AF1E23"/>
      </a:accent1>
      <a:accent2>
        <a:srgbClr val="AF1E23"/>
      </a:accent2>
      <a:accent3>
        <a:srgbClr val="4C4C4C"/>
      </a:accent3>
      <a:accent4>
        <a:srgbClr val="666666"/>
      </a:accent4>
      <a:accent5>
        <a:srgbClr val="808080"/>
      </a:accent5>
      <a:accent6>
        <a:srgbClr val="CCCCCC"/>
      </a:accent6>
      <a:hlink>
        <a:srgbClr val="CCCCCC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4ced55a7-e3ff-412d-8b16-16c16d29a51e}" enabled="1" method="Privileged" siteId="{9744600e-3e04-492e-baa1-25ec245c6f1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640</Words>
  <Application>Microsoft Office PowerPoint</Application>
  <PresentationFormat>Apresentação na tela (4:3)</PresentationFormat>
  <Paragraphs>130</Paragraphs>
  <Slides>22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Trebuchet MS</vt:lpstr>
      <vt:lpstr>Office Theme</vt:lpstr>
      <vt:lpstr> Análise de Viabilidade Técnica e Jurídica no Uso da Inteligência Artificial para Apoio à Identificação de Pessoas Desaparecidas </vt:lpstr>
      <vt:lpstr>         Nome dos Alunos    </vt:lpstr>
      <vt:lpstr>Problema/Contexto</vt:lpstr>
      <vt:lpstr>Motivação do trabalho</vt:lpstr>
      <vt:lpstr>Objetivo</vt:lpstr>
      <vt:lpstr>Objetivos específicos </vt:lpstr>
      <vt:lpstr>Fundamentação/Referencial</vt:lpstr>
      <vt:lpstr>Aspectos técnicos do reconhecimento facial </vt:lpstr>
      <vt:lpstr>Metodologia</vt:lpstr>
      <vt:lpstr>Métricas e limitações </vt:lpstr>
      <vt:lpstr>Vieses Algorítmicos</vt:lpstr>
      <vt:lpstr>Contexto brasileiro </vt:lpstr>
      <vt:lpstr>Auditoria Empírica de Viés — Contribuição de Ciência de Dados</vt:lpstr>
      <vt:lpstr>Resultados — Desempenho de Verificação (LFW)</vt:lpstr>
      <vt:lpstr>Resultados — Viés Demográfico (FairFace)</vt:lpstr>
      <vt:lpstr>Resultados — Marco Jurídico Brasileiro</vt:lpstr>
      <vt:lpstr>Distinção jurídica</vt:lpstr>
      <vt:lpstr>Experiências Internacionais</vt:lpstr>
      <vt:lpstr> Resultados </vt:lpstr>
      <vt:lpstr>Trabalhos futuros</vt:lpstr>
      <vt:lpstr>A viabilidade do uso do reconhecimento facial para fins humanitários depende de:</vt:lpstr>
      <vt:lpstr>Encerramento “Obrigado” Contato QR code do projeto/artigo/github (opcional)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Análise de Viabilidade Técnica e Jurídica no Uso da Inteligência Artificial para Apoio à Identificação de Pessoas Desaparecidas </dc:title>
  <dc:creator>Valdina Alves Cogue</dc:creator>
  <cp:lastModifiedBy>Ten PM Soares</cp:lastModifiedBy>
  <cp:revision>2</cp:revision>
  <dcterms:modified xsi:type="dcterms:W3CDTF">2026-06-03T18:10:04Z</dcterms:modified>
</cp:coreProperties>
</file>