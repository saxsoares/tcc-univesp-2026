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5.jfif" ContentType="image/jpeg"/>
  <Override PartName="/ppt/media/image5.jfif" ContentType="image/jpeg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79" r:id="rId15"/>
    <p:sldId id="275" r:id="rId16"/>
    <p:sldId id="27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13C5A4-D11A-20B3-76AF-00A1DC565ECC}" v="66" dt="2026-06-04T01:19:42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BANDEIRA SOARES" userId="S::2226962@aluno.univesp.br::b4114ebf-0e9d-439d-ba58-b49bf27ccd16" providerId="AD" clId="Web-{DA13C5A4-D11A-20B3-76AF-00A1DC565ECC}"/>
    <pc:docChg chg="modSld">
      <pc:chgData name="FERNANDO BANDEIRA SOARES" userId="S::2226962@aluno.univesp.br::b4114ebf-0e9d-439d-ba58-b49bf27ccd16" providerId="AD" clId="Web-{DA13C5A4-D11A-20B3-76AF-00A1DC565ECC}" dt="2026-06-04T01:19:42.131" v="47" actId="20577"/>
      <pc:docMkLst>
        <pc:docMk/>
      </pc:docMkLst>
      <pc:sldChg chg="delSp">
        <pc:chgData name="FERNANDO BANDEIRA SOARES" userId="S::2226962@aluno.univesp.br::b4114ebf-0e9d-439d-ba58-b49bf27ccd16" providerId="AD" clId="Web-{DA13C5A4-D11A-20B3-76AF-00A1DC565ECC}" dt="2026-06-04T00:54:00.209" v="1"/>
        <pc:sldMkLst>
          <pc:docMk/>
          <pc:sldMk cId="0" sldId="257"/>
        </pc:sldMkLst>
        <pc:spChg chg="del">
          <ac:chgData name="FERNANDO BANDEIRA SOARES" userId="S::2226962@aluno.univesp.br::b4114ebf-0e9d-439d-ba58-b49bf27ccd16" providerId="AD" clId="Web-{DA13C5A4-D11A-20B3-76AF-00A1DC565ECC}" dt="2026-06-04T00:53:57.162" v="0"/>
          <ac:spMkLst>
            <pc:docMk/>
            <pc:sldMk cId="0" sldId="257"/>
            <ac:spMk id="101" creationId="{00000000-0000-0000-0000-000000000000}"/>
          </ac:spMkLst>
        </pc:spChg>
        <pc:spChg chg="del">
          <ac:chgData name="FERNANDO BANDEIRA SOARES" userId="S::2226962@aluno.univesp.br::b4114ebf-0e9d-439d-ba58-b49bf27ccd16" providerId="AD" clId="Web-{DA13C5A4-D11A-20B3-76AF-00A1DC565ECC}" dt="2026-06-04T00:54:00.209" v="1"/>
          <ac:spMkLst>
            <pc:docMk/>
            <pc:sldMk cId="0" sldId="257"/>
            <ac:spMk id="102" creationId="{00000000-0000-0000-0000-000000000000}"/>
          </ac:spMkLst>
        </pc:spChg>
      </pc:sldChg>
      <pc:sldChg chg="modSp">
        <pc:chgData name="FERNANDO BANDEIRA SOARES" userId="S::2226962@aluno.univesp.br::b4114ebf-0e9d-439d-ba58-b49bf27ccd16" providerId="AD" clId="Web-{DA13C5A4-D11A-20B3-76AF-00A1DC565ECC}" dt="2026-06-04T01:17:29.438" v="3" actId="20577"/>
        <pc:sldMkLst>
          <pc:docMk/>
          <pc:sldMk cId="0" sldId="270"/>
        </pc:sldMkLst>
        <pc:spChg chg="mod">
          <ac:chgData name="FERNANDO BANDEIRA SOARES" userId="S::2226962@aluno.univesp.br::b4114ebf-0e9d-439d-ba58-b49bf27ccd16" providerId="AD" clId="Web-{DA13C5A4-D11A-20B3-76AF-00A1DC565ECC}" dt="2026-06-04T01:17:29.438" v="3" actId="20577"/>
          <ac:spMkLst>
            <pc:docMk/>
            <pc:sldMk cId="0" sldId="270"/>
            <ac:spMk id="2" creationId="{C04E3493-6CEF-B320-9077-46C915A1FCE6}"/>
          </ac:spMkLst>
        </pc:spChg>
      </pc:sldChg>
      <pc:sldChg chg="modSp">
        <pc:chgData name="FERNANDO BANDEIRA SOARES" userId="S::2226962@aluno.univesp.br::b4114ebf-0e9d-439d-ba58-b49bf27ccd16" providerId="AD" clId="Web-{DA13C5A4-D11A-20B3-76AF-00A1DC565ECC}" dt="2026-06-04T01:19:42.131" v="47" actId="20577"/>
        <pc:sldMkLst>
          <pc:docMk/>
          <pc:sldMk cId="0" sldId="272"/>
        </pc:sldMkLst>
        <pc:spChg chg="mod">
          <ac:chgData name="FERNANDO BANDEIRA SOARES" userId="S::2226962@aluno.univesp.br::b4114ebf-0e9d-439d-ba58-b49bf27ccd16" providerId="AD" clId="Web-{DA13C5A4-D11A-20B3-76AF-00A1DC565ECC}" dt="2026-06-04T01:19:42.131" v="47" actId="20577"/>
          <ac:spMkLst>
            <pc:docMk/>
            <pc:sldMk cId="0" sldId="272"/>
            <ac:spMk id="2" creationId="{06F564FE-843A-C140-8461-C0B7B9B1D2D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05192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4330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008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817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1b10597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g3e1b10597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3977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b105973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e1b105973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1220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1b105973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g3e1b105973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2034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1b105973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e1b105973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8211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1b105973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3e1b105973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134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b105973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3e1b105973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564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1b105973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e1b105973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3133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1b105973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e1b105973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6454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1b105973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g3e1b105973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0487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1b105973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e1b105973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8260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1b105973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g3e1b105973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7164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1b105973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e1b105973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2561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1b105973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e1b105973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0287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b10597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g3e1b10597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3998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1b105973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3e1b105973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7512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12034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casaluno@univesp.br" TargetMode="External"/><Relationship Id="rId3" Type="http://schemas.openxmlformats.org/officeDocument/2006/relationships/hyperlink" Target="http://www.univesp.b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85800" y="3392669"/>
            <a:ext cx="7772400" cy="108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532466" y="4601676"/>
            <a:ext cx="6049904" cy="122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ctr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ABACA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ctr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ABACA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ABACA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ABACA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BACA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BACA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BACA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BACA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15" name="Google Shape;15;p2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948" y="2043447"/>
            <a:ext cx="3311174" cy="115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EFEFE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20687" y="4406900"/>
            <a:ext cx="6914269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rebuchet MS"/>
              <a:buNone/>
              <a:defRPr sz="4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20687" y="2906713"/>
            <a:ext cx="691426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ABACA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ABACAE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rgbClr val="ABACA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rgbClr val="ABACA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BACA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BACA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BACA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BACA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20" name="Google Shape;20;p3"/>
          <p:cNvCxnSpPr/>
          <p:nvPr/>
        </p:nvCxnSpPr>
        <p:spPr>
          <a:xfrm rot="10800000" flipH="1">
            <a:off x="577929" y="0"/>
            <a:ext cx="782434" cy="4406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3"/>
          <p:cNvSpPr txBox="1"/>
          <p:nvPr/>
        </p:nvSpPr>
        <p:spPr>
          <a:xfrm>
            <a:off x="-1689606" y="559073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2" name="Google Shape;22;p3"/>
          <p:cNvCxnSpPr/>
          <p:nvPr/>
        </p:nvCxnSpPr>
        <p:spPr>
          <a:xfrm rot="10800000" flipH="1">
            <a:off x="8044396" y="4406899"/>
            <a:ext cx="435186" cy="2451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580444" y="1600200"/>
            <a:ext cx="6696662" cy="420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80828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296953" y="2894230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rebuchet MS"/>
              <a:buNone/>
              <a:defRPr sz="6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31" name="Google Shape;31;p5"/>
          <p:cNvCxnSpPr/>
          <p:nvPr/>
        </p:nvCxnSpPr>
        <p:spPr>
          <a:xfrm rot="10800000" flipH="1">
            <a:off x="577929" y="0"/>
            <a:ext cx="782434" cy="4406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5"/>
          <p:cNvCxnSpPr/>
          <p:nvPr/>
        </p:nvCxnSpPr>
        <p:spPr>
          <a:xfrm rot="10800000" flipH="1">
            <a:off x="8044396" y="4406899"/>
            <a:ext cx="435186" cy="2451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3" name="Google Shape;33;p5" descr="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0365" y="4406900"/>
            <a:ext cx="1881900" cy="7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6773000" y="5748475"/>
            <a:ext cx="12714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univesp.br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1580444" y="1600200"/>
            <a:ext cx="2915355" cy="4203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3628906" cy="4203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6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1580444" y="1535112"/>
            <a:ext cx="291694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1580444" y="2174875"/>
            <a:ext cx="2916943" cy="3767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4645026" y="1535112"/>
            <a:ext cx="363208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3632081" cy="3767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80828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49" name="Google Shape;49;p7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7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54" name="Google Shape;54;p8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8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58" name="Google Shape;58;p9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9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1580444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4741332" y="273050"/>
            <a:ext cx="3535774" cy="553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80828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1580444" y="1600200"/>
            <a:ext cx="3008313" cy="420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rgbClr val="80828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rgbClr val="80828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808285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>
              <a:lnSpc>
                <a:spcPct val="130000"/>
              </a:lnSpc>
              <a:spcBef>
                <a:spcPts val="180"/>
              </a:spcBef>
              <a:spcAft>
                <a:spcPts val="0"/>
              </a:spcAft>
              <a:buClr>
                <a:srgbClr val="80828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>
              <a:lnSpc>
                <a:spcPct val="130000"/>
              </a:lnSpc>
              <a:spcBef>
                <a:spcPts val="180"/>
              </a:spcBef>
              <a:spcAft>
                <a:spcPts val="0"/>
              </a:spcAft>
              <a:buClr>
                <a:srgbClr val="80828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65" name="Google Shape;65;p10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0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580444" y="4398169"/>
            <a:ext cx="5698243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1580444" y="612775"/>
            <a:ext cx="5698243" cy="373053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1580444" y="4964907"/>
            <a:ext cx="5698243" cy="8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rgbClr val="80828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rgbClr val="80828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808285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>
              <a:lnSpc>
                <a:spcPct val="130000"/>
              </a:lnSpc>
              <a:spcBef>
                <a:spcPts val="180"/>
              </a:spcBef>
              <a:spcAft>
                <a:spcPts val="0"/>
              </a:spcAft>
              <a:buClr>
                <a:srgbClr val="80828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>
              <a:lnSpc>
                <a:spcPct val="130000"/>
              </a:lnSpc>
              <a:spcBef>
                <a:spcPts val="180"/>
              </a:spcBef>
              <a:spcAft>
                <a:spcPts val="0"/>
              </a:spcAft>
              <a:buClr>
                <a:srgbClr val="80828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72" name="Google Shape;72;p11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11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827146" y="353498"/>
            <a:ext cx="4203257" cy="669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80828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78" name="Google Shape;78;p12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12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4893689" y="2010348"/>
            <a:ext cx="552882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264311" y="590770"/>
            <a:ext cx="5528820" cy="489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80828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8100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1580442" y="6015085"/>
            <a:ext cx="152661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3254476" y="6015085"/>
            <a:ext cx="4029746" cy="4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Universidade Virtual do Estado de São Paulo</a:t>
            </a:r>
            <a:endParaRPr/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50"/>
              <a:buFont typeface="Trebuchet MS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+55 11 3188.6780 /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2"/>
              </a:rPr>
              <a:t>casaluno@univesp.br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/ 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www.univesp.br</a:t>
            </a:r>
            <a:r>
              <a:rPr lang="en-US" sz="10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  <p:cxnSp>
        <p:nvCxnSpPr>
          <p:cNvPr id="85" name="Google Shape;85;p13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1E00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rgbClr val="AF1E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80444" y="1600200"/>
            <a:ext cx="6696662" cy="420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80828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80828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8100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80828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80828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808285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580444" y="6134707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ACAE"/>
              </a:buClr>
              <a:buSzPts val="1200"/>
              <a:buFont typeface="Trebuchet MS"/>
              <a:buNone/>
              <a:defRPr sz="1200" b="0" i="0" u="none" strike="noStrike" cap="none">
                <a:solidFill>
                  <a:srgbClr val="ABACA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cxnSp>
        <p:nvCxnSpPr>
          <p:cNvPr id="9" name="Google Shape;9;p1"/>
          <p:cNvCxnSpPr/>
          <p:nvPr/>
        </p:nvCxnSpPr>
        <p:spPr>
          <a:xfrm rot="10800000" flipH="1">
            <a:off x="136076" y="0"/>
            <a:ext cx="1224289" cy="6895548"/>
          </a:xfrm>
          <a:prstGeom prst="straightConnector1">
            <a:avLst/>
          </a:prstGeom>
          <a:noFill/>
          <a:ln w="12700" cap="flat" cmpd="sng">
            <a:solidFill>
              <a:srgbClr val="AF1E2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" name="Google Shape;10;p1" descr="logounivesp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515422" y="6134707"/>
            <a:ext cx="1148060" cy="3845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f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svg"/><Relationship Id="rId4" Type="http://schemas.openxmlformats.org/officeDocument/2006/relationships/image" Target="../media/image8.svg"/><Relationship Id="rId5" Type="http://schemas.openxmlformats.org/officeDocument/2006/relationships/image" Target="../media/image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f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UNIVERSIDADE VIRTUAL DO ESTADO DE SÃO PAULO</a:t>
            </a:r>
          </a:p>
          <a:p>
            <a:pPr algn="ctr"/>
            <a:r>
              <a:rPr sz="1400" b="0">
                <a:solidFill>
                  <a:srgbClr val="F2D8DA"/>
                </a:solidFill>
                <a:latin typeface="Calibri"/>
              </a:rPr>
              <a:t>Bacharelado em Ciência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B0202E"/>
                </a:solidFill>
                <a:latin typeface="Calibri"/>
              </a:rPr>
              <a:t>Análise de Viabilidade Técnica e Jurídica no Uso da Inteligência Artificial para Apoio à Identificação de Pessoas Desaparecidas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4709160"/>
            <a:ext cx="29260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7680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Calibri"/>
              </a:rPr>
              <a:t>Turma 004 — Grupo 2</a:t>
            </a:r>
          </a:p>
          <a:p>
            <a:pPr algn="ctr"/>
            <a:r>
              <a:rPr sz="1500" b="0">
                <a:solidFill>
                  <a:srgbClr val="595959"/>
                </a:solidFill>
                <a:latin typeface="Calibri"/>
              </a:rPr>
              <a:t>Orientador: Prof. Gustavo Figueredo Rodrigues de Sousa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São Paulo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Integrantes do Grupo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931920" cy="3931920"/>
          </a:xfrm>
          <a:prstGeom prst="roundRect">
            <a:avLst/>
          </a:prstGeom>
          <a:solidFill>
            <a:srgbClr val="F7E6E7"/>
          </a:solidFill>
          <a:ln w="12700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4708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Artemio Costa Canossa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788920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1576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Bruna de Carvalho Regis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657600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58444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Fernando Bandeira Soares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526279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53127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Kelly Cristina Máximo de Almeida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3931920" cy="3931920"/>
          </a:xfrm>
          <a:prstGeom prst="roundRect">
            <a:avLst/>
          </a:prstGeom>
          <a:solidFill>
            <a:srgbClr val="F7E6E7"/>
          </a:solidFill>
          <a:ln w="12700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0" y="1920240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4708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Maria Luiza Ribeiro de Araujo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2788920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1576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Mario Henrique Gimenes Santana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0" y="3657600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58444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Rafael Oliveira da Cruz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0" y="4526279"/>
            <a:ext cx="457200" cy="457200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53127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0202E"/>
                </a:solidFill>
                <a:latin typeface="Calibri"/>
              </a:rPr>
              <a:t>Valdina Alves Cogue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Problema e 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Calibri"/>
              </a:rPr>
              <a:t>O desaparecimento de pessoas é um problema social e humanitário relevante no Brasil.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40944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3172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Elevado número de casos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Demanda social persistente e de grande impacto humano.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336956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9184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Fragmentação das bases de dados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Registros dispersos entre órgãos, sem integração.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432968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25196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Uso crescente de Inteligência Artificial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Reconhecimento facial cada vez mais presente.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528980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21208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Lacunas técnicas, jurídicas e éticas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Ausência de regulamentação e de auditoria.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079FD09-E306-2770-AEE7-FE591D3BE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98" y="2362200"/>
            <a:ext cx="2893180" cy="1502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Motivação do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19072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Uso crescente do reconhecimento facial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Amplamente adotado na segurança pública.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5468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44952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Ausência de regulamentação humanitária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Sem marco específico para a busca de desaparecidos.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48056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370832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Riscos no tratamento de dados biométricos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Implicações técnicas, jurídicas e éticas.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Objetivo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7315200" cy="274320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Analisar a viabilidade técnica e jurídica do uso da Inteligência Artificial, especialmente do reconhecimento facial, como apoio à localização e identificação de pessoas desaparecidas no Brasil.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Objetivos Específicos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44475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0202E"/>
                </a:solidFill>
                <a:latin typeface="Calibri"/>
              </a:rPr>
              <a:t>Apresentar os fundamentos técnicos do reconhecimento facial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87168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77439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0202E"/>
                </a:solidFill>
                <a:latin typeface="Calibri"/>
              </a:rPr>
              <a:t>Identificar limitações técnicas e vieses algorítmicos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419856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10128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0202E"/>
                </a:solidFill>
                <a:latin typeface="Calibri"/>
              </a:rPr>
              <a:t>Analisar o marco jurídico brasileiro aplicável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35254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242816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0202E"/>
                </a:solidFill>
                <a:latin typeface="Calibri"/>
              </a:rPr>
              <a:t>Comparar experiências internacionais de governança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285232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175504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0202E"/>
                </a:solidFill>
                <a:latin typeface="Calibri"/>
              </a:rPr>
              <a:t>Propor diretrizes de governança jurídica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Fundamentação Teórica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3220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55448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Inteligência Artificial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564892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87168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Reconhecimento facial e biometria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28416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49758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9856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Vieses algorítmicos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1104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4430268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352544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Proteção de dados pessoais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93792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5362955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85231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Direitos fundamentais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1580443" y="274637"/>
            <a:ext cx="7356727" cy="69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900"/>
            </a:pPr>
            <a:r>
              <a:rPr lang="pt-BR" sz="2800" dirty="0"/>
              <a:t>Aspectos técnicos do reconhecimento facial</a:t>
            </a:r>
            <a:br>
              <a:rPr lang="pt-BR" dirty="0"/>
            </a:br>
            <a:endParaRPr dirty="0"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1415143" y="1545771"/>
            <a:ext cx="7244921" cy="323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2000" dirty="0"/>
              <a:t>Principais etapas do processo:</a:t>
            </a:r>
          </a:p>
          <a:p>
            <a:pPr lvl="0"/>
            <a:r>
              <a:rPr lang="pt-BR" sz="2000" dirty="0"/>
              <a:t>Detecção facial</a:t>
            </a:r>
          </a:p>
          <a:p>
            <a:pPr lvl="0"/>
            <a:r>
              <a:rPr lang="pt-BR" sz="2000" dirty="0"/>
              <a:t>Pré-processamento da imagem</a:t>
            </a:r>
          </a:p>
          <a:p>
            <a:pPr lvl="0"/>
            <a:r>
              <a:rPr lang="pt-BR" sz="2000" dirty="0"/>
              <a:t>Extração de características (</a:t>
            </a:r>
            <a:r>
              <a:rPr lang="pt-BR" sz="2000" dirty="0" err="1"/>
              <a:t>embeddings</a:t>
            </a:r>
            <a:r>
              <a:rPr lang="pt-BR" sz="2000" dirty="0"/>
              <a:t>)</a:t>
            </a:r>
          </a:p>
          <a:p>
            <a:pPr lvl="0"/>
            <a:r>
              <a:rPr lang="pt-BR" sz="2000" dirty="0"/>
              <a:t>Comparação biométrica (1:1 e 1:N)</a:t>
            </a:r>
          </a:p>
          <a:p>
            <a:r>
              <a:rPr lang="pt-BR" sz="2000" dirty="0"/>
              <a:t>Modelos de referência: </a:t>
            </a:r>
            <a:r>
              <a:rPr lang="pt-BR" sz="2000" dirty="0" err="1"/>
              <a:t>DeepFace</a:t>
            </a:r>
            <a:r>
              <a:rPr lang="pt-BR" sz="2000" dirty="0"/>
              <a:t>, </a:t>
            </a:r>
            <a:r>
              <a:rPr lang="pt-BR" sz="2000" dirty="0" err="1"/>
              <a:t>FaceNet</a:t>
            </a:r>
            <a:r>
              <a:rPr lang="pt-BR" sz="2000" dirty="0"/>
              <a:t> e </a:t>
            </a:r>
            <a:r>
              <a:rPr lang="pt-BR" sz="2000" dirty="0" err="1"/>
              <a:t>ArcFace</a:t>
            </a:r>
            <a:r>
              <a:rPr lang="pt-BR" sz="20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740BC1A-B3E8-1F6F-3E50-BBE3D3BFD20A}"/>
              </a:ext>
            </a:extLst>
          </p:cNvPr>
          <p:cNvSpPr txBox="1"/>
          <p:nvPr/>
        </p:nvSpPr>
        <p:spPr>
          <a:xfrm>
            <a:off x="974360" y="1659541"/>
            <a:ext cx="71952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Compreensão fenomenológica</a:t>
            </a:r>
            <a:r>
              <a:rPr lang="pt-BR" sz="1600" b="1" dirty="0"/>
              <a:t>: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pesquisa busca investigar as nuances do uso de tecnologias de reconhecimento facial, focando em como essas ferramentas impactam a eficácia das investigações e a proteção de direitos fundamentais.</a:t>
            </a:r>
          </a:p>
          <a:p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b="1" dirty="0"/>
              <a:t>Mapeamento teórico</a:t>
            </a:r>
            <a:r>
              <a:rPr lang="pt-BR" sz="1600" b="1" dirty="0"/>
              <a:t>: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se tratar de um tema em constante evolução legislativa, o estudo explora a lacuna entre o desenvolvimento técnico da IA e a capacidade de resposta das políticas públicas de segurança.</a:t>
            </a:r>
          </a:p>
          <a:p>
            <a:pPr lvl="1"/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b="1" dirty="0"/>
              <a:t>Contextualização social</a:t>
            </a:r>
            <a:r>
              <a:rPr lang="pt-BR" sz="1600" b="1" dirty="0"/>
              <a:t>: 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Analisa a percepção de órgãos de segurança e famílias de desaparecidos sobre a implementação de vigilância tecnológica, priorizando a profundidade das relações em vez de apenas dados estatísticos.</a:t>
            </a:r>
          </a:p>
          <a:p>
            <a:pPr lvl="1"/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Estudo sem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imagens de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pessoas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reais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desaparecidas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garantindo a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conformidade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ética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/LGPD)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2E013A-6E47-7F8E-EAC9-424310C1AD3A}"/>
              </a:ext>
            </a:extLst>
          </p:cNvPr>
          <p:cNvSpPr txBox="1"/>
          <p:nvPr/>
        </p:nvSpPr>
        <p:spPr>
          <a:xfrm>
            <a:off x="1558977" y="508329"/>
            <a:ext cx="5969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Natureza Qualitativa e Exploratória</a:t>
            </a:r>
            <a:endParaRPr lang="pt-B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1580444" y="541910"/>
            <a:ext cx="6696661" cy="710818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SzPts val="900"/>
            </a:pPr>
            <a:r>
              <a:rPr lang="pt-B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Conexão Interdisciplinar</a:t>
            </a:r>
            <a:b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2387D55-1596-BC9F-B7A2-61C770B4D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1290" r="10626" b="-3"/>
          <a:stretch/>
        </p:blipFill>
        <p:spPr>
          <a:xfrm>
            <a:off x="1115748" y="1608137"/>
            <a:ext cx="1894698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>
            <a:spLocks noGrp="1"/>
          </p:cNvSpPr>
          <p:nvPr>
            <p:ph type="body" idx="4294967295"/>
          </p:nvPr>
        </p:nvSpPr>
        <p:spPr>
          <a:xfrm>
            <a:off x="3010446" y="1608137"/>
            <a:ext cx="5266659" cy="4352544"/>
          </a:xfrm>
        </p:spPr>
        <p:txBody>
          <a:bodyPr spcFirstLastPara="1" lIns="91425" tIns="45700" rIns="91425" bIns="45700" anchor="t" anchorCtr="0">
            <a:normAutofit fontScale="77500" lnSpcReduction="20000"/>
          </a:bodyPr>
          <a:lstStyle/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r>
              <a:rPr lang="en-US" sz="1800" b="1" i="0" u="none" strike="noStrike" cap="none" dirty="0" err="1">
                <a:solidFill>
                  <a:schemeClr val="bg2"/>
                </a:solidFill>
              </a:rPr>
              <a:t>Métricas</a:t>
            </a:r>
            <a:r>
              <a:rPr lang="en-US" sz="1800" b="1" i="0" u="none" strike="noStrike" cap="none" dirty="0">
                <a:solidFill>
                  <a:schemeClr val="bg2"/>
                </a:solidFill>
              </a:rPr>
              <a:t> </a:t>
            </a:r>
            <a:r>
              <a:rPr lang="en-US" sz="1800" b="1" i="0" u="none" strike="noStrike" cap="none" dirty="0" err="1">
                <a:solidFill>
                  <a:schemeClr val="bg2"/>
                </a:solidFill>
              </a:rPr>
              <a:t>discutidas</a:t>
            </a:r>
            <a:r>
              <a:rPr lang="en-US" sz="1800" b="1" i="0" u="none" strike="noStrike" cap="none" dirty="0">
                <a:solidFill>
                  <a:schemeClr val="bg2"/>
                </a:solidFill>
              </a:rPr>
              <a:t> </a:t>
            </a:r>
            <a:r>
              <a:rPr lang="en-US" sz="1800" b="1" i="0" u="none" strike="noStrike" cap="none" dirty="0" err="1">
                <a:solidFill>
                  <a:schemeClr val="bg2"/>
                </a:solidFill>
              </a:rPr>
              <a:t>na</a:t>
            </a:r>
            <a:r>
              <a:rPr lang="en-US" sz="1800" b="1" i="0" u="none" strike="noStrike" cap="none" dirty="0">
                <a:solidFill>
                  <a:schemeClr val="bg2"/>
                </a:solidFill>
              </a:rPr>
              <a:t> </a:t>
            </a:r>
            <a:r>
              <a:rPr lang="en-US" sz="1800" b="1" i="0" u="none" strike="noStrike" cap="none" dirty="0" err="1">
                <a:solidFill>
                  <a:schemeClr val="bg2"/>
                </a:solidFill>
              </a:rPr>
              <a:t>literatura</a:t>
            </a:r>
            <a:r>
              <a:rPr lang="en-US" sz="1800" b="1" i="0" u="none" strike="noStrike" cap="none" dirty="0">
                <a:solidFill>
                  <a:schemeClr val="bg2"/>
                </a:solidFill>
              </a:rPr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pt-BR" sz="1800" dirty="0">
                <a:solidFill>
                  <a:srgbClr val="AF1E00"/>
                </a:solidFill>
              </a:rPr>
              <a:t>Aplicação de algoritmos de visão computacional e inteligência artificial para análise biométrica precisa.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Precisão</a:t>
            </a:r>
            <a:r>
              <a:rPr lang="en-US" sz="1800" dirty="0">
                <a:solidFill>
                  <a:srgbClr val="AF1E00"/>
                </a:solidFill>
              </a:rPr>
              <a:t>: </a:t>
            </a:r>
            <a:r>
              <a:rPr lang="en-US" sz="1800" dirty="0" err="1">
                <a:solidFill>
                  <a:srgbClr val="AF1E00"/>
                </a:solidFill>
              </a:rPr>
              <a:t>f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alsos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positivos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e 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falsos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negativos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pt-BR" sz="1800" dirty="0">
                <a:solidFill>
                  <a:srgbClr val="AF1E00"/>
                </a:solidFill>
              </a:rPr>
              <a:t>Alinhamento com as normas de proteção de dados pessoais e direitos fundamentais de privacidade.</a:t>
            </a:r>
          </a:p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endParaRPr lang="en-US" sz="1800" b="1" dirty="0">
              <a:solidFill>
                <a:schemeClr val="bg2"/>
              </a:solidFill>
            </a:endParaRPr>
          </a:p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r>
              <a:rPr lang="en-US" sz="1800" b="1" dirty="0" err="1">
                <a:solidFill>
                  <a:schemeClr val="bg2"/>
                </a:solidFill>
              </a:rPr>
              <a:t>Limitações</a:t>
            </a:r>
            <a:r>
              <a:rPr lang="en-US" sz="1800" b="1" dirty="0">
                <a:solidFill>
                  <a:schemeClr val="bg2"/>
                </a:solidFill>
              </a:rPr>
              <a:t> </a:t>
            </a:r>
            <a:r>
              <a:rPr lang="en-US" sz="1800" b="1" dirty="0" err="1">
                <a:solidFill>
                  <a:schemeClr val="bg2"/>
                </a:solidFill>
              </a:rPr>
              <a:t>relevantes</a:t>
            </a:r>
            <a:r>
              <a:rPr lang="en-US" sz="1800" b="1" dirty="0">
                <a:solidFill>
                  <a:schemeClr val="bg2"/>
                </a:solidFill>
              </a:rPr>
              <a:t>: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Envelhecimento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facial e </a:t>
            </a:r>
            <a:r>
              <a:rPr lang="en-US" sz="1800" dirty="0" err="1">
                <a:solidFill>
                  <a:srgbClr val="AF1E00"/>
                </a:solidFill>
              </a:rPr>
              <a:t>b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aixa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qualidade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de imagens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>
                <a:solidFill>
                  <a:srgbClr val="AF1E00"/>
                </a:solidFill>
              </a:rPr>
              <a:t>Bases de dados 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pouco</a:t>
            </a:r>
            <a:r>
              <a:rPr lang="en-US" sz="1800" b="0" i="0" u="none" strike="noStrike" cap="none" dirty="0">
                <a:solidFill>
                  <a:srgbClr val="AF1E00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rgbClr val="AF1E00"/>
                </a:solidFill>
              </a:rPr>
              <a:t>representativas</a:t>
            </a:r>
            <a:endParaRPr lang="en-US" sz="1800" b="0" i="0" u="none" strike="noStrike" cap="none" dirty="0">
              <a:solidFill>
                <a:srgbClr val="AF1E00"/>
              </a:solidFill>
            </a:endParaRPr>
          </a:p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endParaRPr lang="pt-BR" sz="1800" b="1" dirty="0">
              <a:solidFill>
                <a:schemeClr val="bg2"/>
              </a:solidFill>
            </a:endParaRPr>
          </a:p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r>
              <a:rPr lang="pt-BR" sz="1800" b="1" dirty="0">
                <a:solidFill>
                  <a:schemeClr val="bg2"/>
                </a:solidFill>
              </a:rPr>
              <a:t>Aspecto social</a:t>
            </a:r>
            <a:endParaRPr lang="pt-BR" sz="1900" dirty="0">
              <a:solidFill>
                <a:srgbClr val="AF1E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pt-BR" sz="1900" dirty="0">
                <a:solidFill>
                  <a:srgbClr val="AF1E00"/>
                </a:solidFill>
              </a:rPr>
              <a:t>Estudo do impacto humanitário na localização de indivíduos e no suporte a famílias de desaparecidos.</a:t>
            </a:r>
          </a:p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endParaRPr lang="pt-BR" sz="1800" b="1" dirty="0">
              <a:solidFill>
                <a:schemeClr val="bg2"/>
              </a:solidFill>
            </a:endParaRPr>
          </a:p>
          <a:p>
            <a:pPr marL="2540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endParaRPr lang="pt-BR" sz="1800" b="1" dirty="0">
              <a:solidFill>
                <a:schemeClr val="bg2"/>
              </a:solidFill>
            </a:endParaRPr>
          </a:p>
          <a:p>
            <a:pPr marL="2540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endParaRPr lang="en-US" sz="1800" b="0" i="0" u="none" strike="noStrike" cap="none" dirty="0">
              <a:solidFill>
                <a:srgbClr val="AF1E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40"/>
              <a:buFont typeface="Arial"/>
              <a:buNone/>
            </a:pPr>
            <a:endParaRPr lang="en-US" sz="1800" b="0" i="0" u="none" strike="noStrike" cap="none" baseline="30000" dirty="0">
              <a:solidFill>
                <a:srgbClr val="AF1E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DA3F765-AFBF-86B8-77C7-D80B04461C6F}"/>
              </a:ext>
            </a:extLst>
          </p:cNvPr>
          <p:cNvSpPr txBox="1"/>
          <p:nvPr/>
        </p:nvSpPr>
        <p:spPr>
          <a:xfrm>
            <a:off x="1633928" y="3192905"/>
            <a:ext cx="554248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6F8A9D-1EC9-FDF3-C714-A2A721729D21}"/>
              </a:ext>
            </a:extLst>
          </p:cNvPr>
          <p:cNvSpPr txBox="1"/>
          <p:nvPr/>
        </p:nvSpPr>
        <p:spPr>
          <a:xfrm>
            <a:off x="1225445" y="323252"/>
            <a:ext cx="5418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 da Análise de Viabilidade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64626E-65EC-B777-460F-948F6DF5745C}"/>
              </a:ext>
            </a:extLst>
          </p:cNvPr>
          <p:cNvSpPr/>
          <p:nvPr/>
        </p:nvSpPr>
        <p:spPr>
          <a:xfrm>
            <a:off x="1899816" y="1089099"/>
            <a:ext cx="6914400" cy="1174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pt-B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Vieses algorítmicos avaliação técnica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Analisar a precisão dos algoritmos de reconhecimento facial em diferentes condições de iluminação e resolução de imagem.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56F5F86-6BC4-8B69-179F-1ABB19DBA8C2}"/>
              </a:ext>
            </a:extLst>
          </p:cNvPr>
          <p:cNvSpPr/>
          <p:nvPr/>
        </p:nvSpPr>
        <p:spPr>
          <a:xfrm>
            <a:off x="981697" y="1120422"/>
            <a:ext cx="1034321" cy="106673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Peças de quebra-cabeça com preenchimento sólido">
            <a:extLst>
              <a:ext uri="{FF2B5EF4-FFF2-40B4-BE49-F238E27FC236}">
                <a16:creationId xmlns:a16="http://schemas.microsoft.com/office/drawing/2014/main" id="{02AADBA3-8BDF-33F8-199A-B43909B56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508" y="1120422"/>
            <a:ext cx="1034321" cy="1034321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2C282789-315F-1344-FD58-FFC0880E7A15}"/>
              </a:ext>
            </a:extLst>
          </p:cNvPr>
          <p:cNvSpPr/>
          <p:nvPr/>
        </p:nvSpPr>
        <p:spPr>
          <a:xfrm>
            <a:off x="1899816" y="2479005"/>
            <a:ext cx="6914400" cy="1422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</a:p>
          <a:p>
            <a:r>
              <a:rPr lang="pt-B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Verificação de infraestrutura</a:t>
            </a:r>
            <a:endParaRPr lang="pt-B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Determinar a capacidade dos sistemas de segurança pública existentes para integrar bases de dados de pessoas desaparecidas.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Trebuchet MS" panose="020B0603020202020204" pitchFamily="34" charset="0"/>
              </a:rPr>
              <a:t>Erros algorítmicos não são neutros.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B23F2E9-29FE-1E1C-8233-1D0967008063}"/>
              </a:ext>
            </a:extLst>
          </p:cNvPr>
          <p:cNvSpPr/>
          <p:nvPr/>
        </p:nvSpPr>
        <p:spPr>
          <a:xfrm>
            <a:off x="981696" y="2534581"/>
            <a:ext cx="1034321" cy="125077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Gráfico 20" descr="Blockchain com preenchimento sólido">
            <a:extLst>
              <a:ext uri="{FF2B5EF4-FFF2-40B4-BE49-F238E27FC236}">
                <a16:creationId xmlns:a16="http://schemas.microsoft.com/office/drawing/2014/main" id="{2C8D6820-7989-8374-C98E-4E44119A4E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656" y="2561367"/>
            <a:ext cx="914400" cy="1032371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A6470459-6E55-F94C-400A-45A6C14B58E7}"/>
              </a:ext>
            </a:extLst>
          </p:cNvPr>
          <p:cNvSpPr/>
          <p:nvPr/>
        </p:nvSpPr>
        <p:spPr>
          <a:xfrm>
            <a:off x="1956056" y="4043659"/>
            <a:ext cx="6858160" cy="1544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Análise de impacto desproporcional sobre:</a:t>
            </a:r>
            <a:endParaRPr lang="pt-B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Pessoas negras, indígenas e orientais.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Evidenciado em estudos nacionais e internacionais.</a:t>
            </a:r>
          </a:p>
          <a:p>
            <a:pPr algn="ctr"/>
            <a:endParaRPr lang="pt-BR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18B389C-2BA3-FE4E-5613-27F7898C5297}"/>
              </a:ext>
            </a:extLst>
          </p:cNvPr>
          <p:cNvSpPr/>
          <p:nvPr/>
        </p:nvSpPr>
        <p:spPr>
          <a:xfrm>
            <a:off x="993069" y="4115896"/>
            <a:ext cx="1034321" cy="125077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Gráfico 29" descr="Grupo de pessoas com preenchimento sólido">
            <a:extLst>
              <a:ext uri="{FF2B5EF4-FFF2-40B4-BE49-F238E27FC236}">
                <a16:creationId xmlns:a16="http://schemas.microsoft.com/office/drawing/2014/main" id="{61B860C9-DD50-37D4-F2B9-8ADE5983E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656" y="4239829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C344328-BEF7-73E9-17BB-5D8E8F0A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94" y="0"/>
            <a:ext cx="6858000" cy="68580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C75AA220-40DE-F5EF-E27C-4A22AD60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44" y="274637"/>
            <a:ext cx="6696662" cy="564812"/>
          </a:xfrm>
        </p:spPr>
        <p:txBody>
          <a:bodyPr/>
          <a:lstStyle/>
          <a:p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 Brasileiro</a:t>
            </a:r>
          </a:p>
        </p:txBody>
      </p:sp>
      <p:sp>
        <p:nvSpPr>
          <p:cNvPr id="8" name="Google Shape;157;p25"/>
          <p:cNvSpPr txBox="1">
            <a:spLocks noGrp="1"/>
          </p:cNvSpPr>
          <p:nvPr>
            <p:ph type="body" idx="1"/>
          </p:nvPr>
        </p:nvSpPr>
        <p:spPr>
          <a:xfrm>
            <a:off x="1034322" y="839449"/>
            <a:ext cx="6190937" cy="601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None/>
            </a:pPr>
            <a:r>
              <a:rPr lang="pt-BR" sz="18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Literatura especializada</a:t>
            </a:r>
          </a:p>
          <a:p>
            <a:r>
              <a:rPr lang="pt-BR" sz="1400" dirty="0">
                <a:solidFill>
                  <a:schemeClr val="bg2"/>
                </a:solidFill>
              </a:rPr>
              <a:t>Em estudo de obras acadêmicas e artigos científicos que exploram o estado da arte da Inteligência Artificial no mundo, focando na realidade do Brasil identificamos bases que nossas bases de dados estão fragmentados e não integradas o que torna mais complexo a aplicação da localização de pessoas desaparecidas.</a:t>
            </a:r>
          </a:p>
          <a:p>
            <a:r>
              <a:rPr lang="pt-BR" sz="1400" dirty="0">
                <a:solidFill>
                  <a:schemeClr val="bg2"/>
                </a:solidFill>
              </a:rPr>
              <a:t>Identificada ausência de ferramentas integradas e a falta de regulamentos e limites éticos do monitoramento biométrico são os maiores desafios.</a:t>
            </a:r>
          </a:p>
          <a:p>
            <a:r>
              <a:rPr lang="pt-BR" sz="1400" dirty="0">
                <a:solidFill>
                  <a:schemeClr val="bg2"/>
                </a:solidFill>
              </a:rPr>
              <a:t>Utilizar a eficiência tecnológica na segurança e a preservação dos direitos fundamentais da dignidade humana é o equilíbrio para atingir o objetivo de explorar a base de dados Brasileira para reconhecimento de pessoas desaparecidas.</a:t>
            </a:r>
          </a:p>
          <a:p>
            <a:r>
              <a:rPr lang="pt-BR" sz="1400" dirty="0">
                <a:solidFill>
                  <a:schemeClr val="bg2"/>
                </a:solidFill>
              </a:rPr>
              <a:t>Investigação de estudos que discutem vieses algorítmicos e a precisão técnica dos sistemas, fundamentais para compreender como a tecnologia impacta diferentes grupos demográficos durante a busca por pessoas desaparecidas.</a:t>
            </a:r>
          </a:p>
          <a:p>
            <a:pPr lvl="0"/>
            <a:r>
              <a:rPr lang="pt-BR" sz="1400" dirty="0">
                <a:solidFill>
                  <a:schemeClr val="bg2"/>
                </a:solidFill>
              </a:rPr>
              <a:t>Casos documentados de identificações incorretas</a:t>
            </a:r>
          </a:p>
          <a:p>
            <a:pPr lvl="0"/>
            <a:r>
              <a:rPr lang="pt-BR" sz="1400" dirty="0">
                <a:solidFill>
                  <a:schemeClr val="bg2"/>
                </a:solidFill>
              </a:rPr>
              <a:t>Risco de discriminação estrutural</a:t>
            </a:r>
          </a:p>
          <a:p>
            <a:pPr marL="0" marR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240"/>
              <a:buNone/>
            </a:pPr>
            <a:endParaRPr sz="2240" b="1" baseline="30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78D5E-74C8-4075-F956-A315F56B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44" y="274637"/>
            <a:ext cx="6696662" cy="869430"/>
          </a:xfrm>
        </p:spPr>
        <p:txBody>
          <a:bodyPr/>
          <a:lstStyle/>
          <a:p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Divisão do processo de Reconhecimento</a:t>
            </a:r>
          </a:p>
        </p:txBody>
      </p:sp>
      <p:sp>
        <p:nvSpPr>
          <p:cNvPr id="6" name="Seta: em Forma de U 5">
            <a:extLst>
              <a:ext uri="{FF2B5EF4-FFF2-40B4-BE49-F238E27FC236}">
                <a16:creationId xmlns:a16="http://schemas.microsoft.com/office/drawing/2014/main" id="{6A3187CE-E82E-DE69-3106-976A04353B6C}"/>
              </a:ext>
            </a:extLst>
          </p:cNvPr>
          <p:cNvSpPr/>
          <p:nvPr/>
        </p:nvSpPr>
        <p:spPr>
          <a:xfrm rot="5400000">
            <a:off x="3309079" y="333690"/>
            <a:ext cx="3185408" cy="7435124"/>
          </a:xfrm>
          <a:prstGeom prst="utur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FCBC926-2724-D1CF-091C-671553A773EC}"/>
              </a:ext>
            </a:extLst>
          </p:cNvPr>
          <p:cNvSpPr/>
          <p:nvPr/>
        </p:nvSpPr>
        <p:spPr>
          <a:xfrm>
            <a:off x="1184221" y="1836297"/>
            <a:ext cx="1049313" cy="86943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/>
              <a:t>1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052CE17-F14D-7DE9-67B2-CA699B4285E6}"/>
              </a:ext>
            </a:extLst>
          </p:cNvPr>
          <p:cNvSpPr/>
          <p:nvPr/>
        </p:nvSpPr>
        <p:spPr>
          <a:xfrm>
            <a:off x="6848654" y="3033596"/>
            <a:ext cx="1049313" cy="86943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/>
              <a:t>2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7FFA115-A8A1-8887-40B7-E67F9D0A046F}"/>
              </a:ext>
            </a:extLst>
          </p:cNvPr>
          <p:cNvSpPr/>
          <p:nvPr/>
        </p:nvSpPr>
        <p:spPr>
          <a:xfrm>
            <a:off x="5501389" y="4535003"/>
            <a:ext cx="1049313" cy="86943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/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3D473C7-C5B8-8C0C-A6FE-F5CFAF3FE84C}"/>
              </a:ext>
            </a:extLst>
          </p:cNvPr>
          <p:cNvSpPr txBox="1"/>
          <p:nvPr/>
        </p:nvSpPr>
        <p:spPr>
          <a:xfrm>
            <a:off x="2233534" y="1288997"/>
            <a:ext cx="57262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Vetorização Facial: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sistema de IA analisa a imagem e extrai os 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pontos nodais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 face (distância entre os olhos, comprimento do nariz, formato da mandíbula e contorno dos lábios), transformando o rosto em um código matemático único (uma assinatura facial), que é armazenado no banco de dados.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8AC6B0B-4D53-6D44-58AD-A973E06B9DC1}"/>
              </a:ext>
            </a:extLst>
          </p:cNvPr>
          <p:cNvSpPr txBox="1"/>
          <p:nvPr/>
        </p:nvSpPr>
        <p:spPr>
          <a:xfrm>
            <a:off x="1828800" y="3280775"/>
            <a:ext cx="55445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Cruzamento de Algoritmos: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software  processa essas imagens, normaliza ângulos e iluminação, e compara as novas "assinaturas faciais" instantaneamente com os perfis de pessoas desaparecidas cadastrados no sistema 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D171437-0F7C-45C9-7ECA-00D1AF54259A}"/>
              </a:ext>
            </a:extLst>
          </p:cNvPr>
          <p:cNvSpPr txBox="1"/>
          <p:nvPr/>
        </p:nvSpPr>
        <p:spPr>
          <a:xfrm>
            <a:off x="3874956" y="539438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Filtro de Probabilidade: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sistema aponta uma porcentagem de confiança (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95% de chance de ser a mesma pessoa).</a:t>
            </a:r>
          </a:p>
        </p:txBody>
      </p:sp>
    </p:spTree>
    <p:extLst>
      <p:ext uri="{BB962C8B-B14F-4D97-AF65-F5344CB8AC3E}">
        <p14:creationId xmlns:p14="http://schemas.microsoft.com/office/powerpoint/2010/main" val="333854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33193-C9E1-652C-296D-FA4AC19E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43" y="274637"/>
            <a:ext cx="7308723" cy="939566"/>
          </a:xfrm>
        </p:spPr>
        <p:txBody>
          <a:bodyPr/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Indicadores de Desempenho (Acurácia, Precisão e Recall)</a:t>
            </a:r>
            <a:b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34698-95DD-5ED5-2311-B08460C07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8466" y="1600200"/>
            <a:ext cx="5938640" cy="4203257"/>
          </a:xfrm>
        </p:spPr>
        <p:txBody>
          <a:bodyPr/>
          <a:lstStyle/>
          <a:p>
            <a:pPr marL="25400" indent="0">
              <a:buNone/>
            </a:pPr>
            <a:r>
              <a:rPr lang="pt-BR" sz="1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Acurácia</a:t>
            </a:r>
          </a:p>
          <a:p>
            <a:r>
              <a:rPr lang="pt-BR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 a proporção global de previsões corretas (verdadeiros positivos e verdadeiros negativos) em relação ao total de casos, servindo como uma visão geral da eficácia do modelo.</a:t>
            </a:r>
          </a:p>
          <a:p>
            <a:pPr marL="25400" indent="0">
              <a:buNone/>
            </a:pPr>
            <a:r>
              <a:rPr lang="pt-BR" sz="1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Precisão</a:t>
            </a:r>
          </a:p>
          <a:p>
            <a:r>
              <a:rPr lang="pt-BR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Mede a exatidão do sistema ao identificar uma pessoa, calculando a proporção de identificações positivas que foram de fato corretas (TP / (TP + FP)), o que é crucial para evitar alarmes falsos.</a:t>
            </a:r>
          </a:p>
          <a:p>
            <a:pPr marL="25400" indent="0">
              <a:buNone/>
            </a:pPr>
            <a:r>
              <a:rPr lang="pt-BR" sz="1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  <a:p>
            <a:r>
              <a:rPr lang="pt-BR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Também conhecido como sensibilidade ou Taxa de Verdadeiros Positivos (TPR), foca na capacidade do modelo em encontrar todos os indivíduos procurados dentro da base de dados, minimizando as omissões.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6278D5-F95D-C8E7-1BFE-4DBE3582E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45" y="1783700"/>
            <a:ext cx="1378021" cy="4019757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5AB5B2F-EA3C-F02B-B7DD-3832034CC9DC}"/>
              </a:ext>
            </a:extLst>
          </p:cNvPr>
          <p:cNvSpPr/>
          <p:nvPr/>
        </p:nvSpPr>
        <p:spPr>
          <a:xfrm>
            <a:off x="1820680" y="1783700"/>
            <a:ext cx="517786" cy="509795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7AFDE9-DFF8-69C2-5A4F-598B6332C689}"/>
              </a:ext>
            </a:extLst>
          </p:cNvPr>
          <p:cNvSpPr/>
          <p:nvPr/>
        </p:nvSpPr>
        <p:spPr>
          <a:xfrm>
            <a:off x="1820680" y="3116705"/>
            <a:ext cx="517786" cy="509795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2</a:t>
            </a:r>
            <a:endParaRPr lang="pt-BR" sz="24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061079A-7403-5396-577B-CC2A343C40ED}"/>
              </a:ext>
            </a:extLst>
          </p:cNvPr>
          <p:cNvSpPr/>
          <p:nvPr/>
        </p:nvSpPr>
        <p:spPr>
          <a:xfrm>
            <a:off x="1846601" y="4564506"/>
            <a:ext cx="517786" cy="509795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3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4533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0444" y="274637"/>
            <a:ext cx="6696662" cy="549822"/>
          </a:xfrm>
        </p:spPr>
        <p:txBody>
          <a:bodyPr/>
          <a:lstStyle/>
          <a:p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Auditoria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Empírica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Viés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Contribuição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Ciência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Dados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resultados — Desempenho de Verificação (LFW)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582" y="824459"/>
            <a:ext cx="6696662" cy="2158585"/>
          </a:xfrm>
        </p:spPr>
        <p:txBody>
          <a:bodyPr/>
          <a:lstStyle/>
          <a:p>
            <a:r>
              <a:rPr sz="1400" dirty="0">
                <a:solidFill>
                  <a:schemeClr val="bg2"/>
                </a:solidFill>
                <a:latin typeface="Calibri"/>
              </a:rPr>
              <a:t>Auditoria de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modelo</a:t>
            </a:r>
            <a:r>
              <a:rPr sz="1400" dirty="0">
                <a:solidFill>
                  <a:schemeClr val="bg2"/>
                </a:solidFill>
                <a:latin typeface="Calibri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pré-treinado</a:t>
            </a:r>
            <a:r>
              <a:rPr sz="1400" dirty="0">
                <a:solidFill>
                  <a:schemeClr val="bg2"/>
                </a:solidFill>
                <a:latin typeface="Calibri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ArcFace</a:t>
            </a:r>
            <a:r>
              <a:rPr sz="1400" dirty="0">
                <a:solidFill>
                  <a:schemeClr val="bg2"/>
                </a:solidFill>
                <a:latin typeface="Calibri"/>
              </a:rPr>
              <a:t> (ResNet-50),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sem</a:t>
            </a:r>
            <a:r>
              <a:rPr sz="1400" dirty="0">
                <a:solidFill>
                  <a:schemeClr val="bg2"/>
                </a:solidFill>
                <a:latin typeface="Calibri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treino</a:t>
            </a:r>
            <a:r>
              <a:rPr sz="1400" dirty="0">
                <a:solidFill>
                  <a:schemeClr val="bg2"/>
                </a:solidFill>
                <a:latin typeface="Calibri"/>
              </a:rPr>
              <a:t> do zero</a:t>
            </a:r>
          </a:p>
          <a:p>
            <a:r>
              <a:rPr sz="1400" dirty="0">
                <a:solidFill>
                  <a:schemeClr val="bg2"/>
                </a:solidFill>
                <a:latin typeface="Calibri"/>
              </a:rPr>
              <a:t>Bases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públicas</a:t>
            </a:r>
            <a:r>
              <a:rPr sz="1400" dirty="0">
                <a:solidFill>
                  <a:schemeClr val="bg2"/>
                </a:solidFill>
                <a:latin typeface="Calibri"/>
              </a:rPr>
              <a:t>: LFW (6.000 pares) e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FairFace</a:t>
            </a:r>
            <a:r>
              <a:rPr sz="1400" dirty="0">
                <a:solidFill>
                  <a:schemeClr val="bg2"/>
                </a:solidFill>
                <a:latin typeface="Calibri"/>
              </a:rPr>
              <a:t> (10.954 imagens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rotuladas</a:t>
            </a:r>
            <a:r>
              <a:rPr sz="1400" dirty="0">
                <a:solidFill>
                  <a:schemeClr val="bg2"/>
                </a:solidFill>
                <a:latin typeface="Calibri"/>
              </a:rPr>
              <a:t>)</a:t>
            </a:r>
          </a:p>
          <a:p>
            <a:r>
              <a:rPr sz="1400" dirty="0" err="1">
                <a:solidFill>
                  <a:schemeClr val="bg2"/>
                </a:solidFill>
                <a:latin typeface="Calibri"/>
              </a:rPr>
              <a:t>Verificação</a:t>
            </a:r>
            <a:r>
              <a:rPr sz="1400" dirty="0">
                <a:solidFill>
                  <a:schemeClr val="bg2"/>
                </a:solidFill>
                <a:latin typeface="Calibri"/>
              </a:rPr>
              <a:t> facial 1:1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por</a:t>
            </a:r>
            <a:r>
              <a:rPr sz="1400" dirty="0">
                <a:solidFill>
                  <a:schemeClr val="bg2"/>
                </a:solidFill>
                <a:latin typeface="Calibri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similaridade</a:t>
            </a:r>
            <a:r>
              <a:rPr sz="1400" dirty="0">
                <a:solidFill>
                  <a:schemeClr val="bg2"/>
                </a:solidFill>
                <a:latin typeface="Calibri"/>
              </a:rPr>
              <a:t> de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cosseno</a:t>
            </a:r>
            <a:r>
              <a:rPr sz="1400" dirty="0">
                <a:solidFill>
                  <a:schemeClr val="bg2"/>
                </a:solidFill>
                <a:latin typeface="Calibri"/>
              </a:rPr>
              <a:t> entre embeddings</a:t>
            </a:r>
          </a:p>
          <a:p>
            <a:r>
              <a:rPr sz="1400" dirty="0" err="1">
                <a:solidFill>
                  <a:schemeClr val="bg2"/>
                </a:solidFill>
                <a:latin typeface="Calibri"/>
              </a:rPr>
              <a:t>Limiar</a:t>
            </a:r>
            <a:r>
              <a:rPr sz="1400" dirty="0">
                <a:solidFill>
                  <a:schemeClr val="bg2"/>
                </a:solidFill>
                <a:latin typeface="Calibri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único</a:t>
            </a:r>
            <a:r>
              <a:rPr sz="1400" dirty="0">
                <a:solidFill>
                  <a:schemeClr val="bg2"/>
                </a:solidFill>
                <a:latin typeface="Calibri"/>
              </a:rPr>
              <a:t> +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métricas</a:t>
            </a:r>
            <a:r>
              <a:rPr sz="1400" dirty="0">
                <a:solidFill>
                  <a:schemeClr val="bg2"/>
                </a:solidFill>
                <a:latin typeface="Calibri"/>
              </a:rPr>
              <a:t>: AUC, EER, FMR, FNMR e teste qui-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quadrado</a:t>
            </a:r>
            <a:endParaRPr sz="1400" dirty="0">
              <a:solidFill>
                <a:schemeClr val="bg2"/>
              </a:solidFill>
              <a:latin typeface="Calibri"/>
            </a:endParaRPr>
          </a:p>
          <a:p>
            <a:r>
              <a:rPr sz="1400" dirty="0" err="1">
                <a:solidFill>
                  <a:schemeClr val="bg2"/>
                </a:solidFill>
                <a:latin typeface="Calibri"/>
              </a:rPr>
              <a:t>Reprodutível</a:t>
            </a:r>
            <a:r>
              <a:rPr sz="1400" dirty="0">
                <a:solidFill>
                  <a:schemeClr val="bg2"/>
                </a:solidFill>
                <a:latin typeface="Calibri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em</a:t>
            </a:r>
            <a:r>
              <a:rPr sz="1400" dirty="0">
                <a:solidFill>
                  <a:schemeClr val="bg2"/>
                </a:solidFill>
                <a:latin typeface="Calibri"/>
              </a:rPr>
              <a:t> Python (ONNX Runtime, scikit-learn) — </a:t>
            </a:r>
            <a:r>
              <a:rPr sz="1400" dirty="0" err="1">
                <a:solidFill>
                  <a:schemeClr val="bg2"/>
                </a:solidFill>
                <a:latin typeface="Calibri"/>
              </a:rPr>
              <a:t>sem</a:t>
            </a:r>
            <a:r>
              <a:rPr sz="1400" dirty="0">
                <a:solidFill>
                  <a:schemeClr val="bg2"/>
                </a:solidFill>
                <a:latin typeface="Calibri"/>
              </a:rPr>
              <a:t> GPU</a:t>
            </a:r>
          </a:p>
        </p:txBody>
      </p:sp>
      <p:pic>
        <p:nvPicPr>
          <p:cNvPr id="4" name="Picture 3" descr="fig1_lfw_roc.png">
            <a:extLst>
              <a:ext uri="{FF2B5EF4-FFF2-40B4-BE49-F238E27FC236}">
                <a16:creationId xmlns:a16="http://schemas.microsoft.com/office/drawing/2014/main" id="{F483985F-E50D-3567-0613-931DE25E0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44657"/>
            <a:ext cx="7863840" cy="2316835"/>
          </a:xfrm>
          <a:prstGeom prst="rect">
            <a:avLst/>
          </a:prstGeom>
        </p:spPr>
      </p:pic>
      <p:sp>
        <p:nvSpPr>
          <p:cNvPr id="5" name="TextBox 2"/>
          <p:cNvSpPr txBox="1"/>
          <p:nvPr/>
        </p:nvSpPr>
        <p:spPr>
          <a:xfrm>
            <a:off x="905415" y="2888823"/>
            <a:ext cx="8046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F4E79"/>
                </a:solidFill>
                <a:latin typeface="Calibri"/>
              </a:rPr>
              <a:t>AUC = 0,9911    •    EER = 3,72%    •    </a:t>
            </a:r>
            <a:r>
              <a:rPr sz="2000" b="1" dirty="0" err="1">
                <a:solidFill>
                  <a:srgbClr val="1F4E79"/>
                </a:solidFill>
                <a:latin typeface="Calibri"/>
              </a:rPr>
              <a:t>Acurácia</a:t>
            </a:r>
            <a:r>
              <a:rPr sz="2000" b="1" dirty="0">
                <a:solidFill>
                  <a:srgbClr val="1F4E79"/>
                </a:solidFill>
                <a:latin typeface="Calibri"/>
              </a:rPr>
              <a:t> = 96,85%</a:t>
            </a:r>
          </a:p>
          <a:p>
            <a:pPr algn="ctr"/>
            <a:r>
              <a:rPr b="0" dirty="0">
                <a:latin typeface="Calibri"/>
              </a:rPr>
              <a:t>Alto </a:t>
            </a:r>
            <a:r>
              <a:rPr b="0" dirty="0" err="1">
                <a:latin typeface="Calibri"/>
              </a:rPr>
              <a:t>desempenho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em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condições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controladas</a:t>
            </a:r>
            <a:r>
              <a:rPr b="0" dirty="0">
                <a:latin typeface="Calibri"/>
              </a:rPr>
              <a:t> — </a:t>
            </a:r>
            <a:r>
              <a:rPr b="0" dirty="0" err="1">
                <a:latin typeface="Calibri"/>
              </a:rPr>
              <a:t>confirma</a:t>
            </a:r>
            <a:r>
              <a:rPr b="0" dirty="0">
                <a:latin typeface="Calibri"/>
              </a:rPr>
              <a:t> a </a:t>
            </a:r>
            <a:r>
              <a:rPr b="0" dirty="0" err="1">
                <a:latin typeface="Calibri"/>
              </a:rPr>
              <a:t>literatura</a:t>
            </a:r>
            <a:endParaRPr b="0" dirty="0"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0444" y="274637"/>
            <a:ext cx="6696662" cy="564812"/>
          </a:xfrm>
        </p:spPr>
        <p:txBody>
          <a:bodyPr/>
          <a:lstStyle/>
          <a:p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Viés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Demográfico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FairFace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Calibri"/>
              </a:rPr>
              <a:t>Disparidade</a:t>
            </a:r>
            <a:r>
              <a:rPr sz="2000" b="1" dirty="0">
                <a:solidFill>
                  <a:srgbClr val="1F4E79"/>
                </a:solidFill>
                <a:latin typeface="Calibri"/>
              </a:rPr>
              <a:t> de FMR = 3,72× entre </a:t>
            </a:r>
            <a:r>
              <a:rPr sz="2000" b="1" dirty="0" err="1">
                <a:solidFill>
                  <a:srgbClr val="1F4E79"/>
                </a:solidFill>
                <a:latin typeface="Calibri"/>
              </a:rPr>
              <a:t>grupos</a:t>
            </a:r>
            <a:r>
              <a:rPr sz="2000" b="1" dirty="0">
                <a:solidFill>
                  <a:srgbClr val="1F4E79"/>
                </a:solidFill>
                <a:latin typeface="Calibri"/>
              </a:rPr>
              <a:t>  (χ² = 80,1; p &lt; 0,001)</a:t>
            </a:r>
          </a:p>
          <a:p>
            <a:pPr algn="ctr"/>
            <a:r>
              <a:rPr sz="1600" b="0" dirty="0">
                <a:latin typeface="Calibri"/>
              </a:rPr>
              <a:t>Grupo negro ≈ 2× a taxa de </a:t>
            </a:r>
            <a:r>
              <a:rPr sz="1600" b="0" dirty="0" err="1">
                <a:latin typeface="Calibri"/>
              </a:rPr>
              <a:t>falso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positivo</a:t>
            </a:r>
            <a:r>
              <a:rPr sz="1600" b="0" dirty="0">
                <a:latin typeface="Calibri"/>
              </a:rPr>
              <a:t> do </a:t>
            </a:r>
            <a:r>
              <a:rPr sz="1600" b="0" dirty="0" err="1">
                <a:latin typeface="Calibri"/>
              </a:rPr>
              <a:t>grupo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branco</a:t>
            </a:r>
            <a:endParaRPr sz="1600" b="0" dirty="0">
              <a:latin typeface="Calibri"/>
            </a:endParaRPr>
          </a:p>
          <a:p>
            <a:pPr algn="ctr"/>
            <a:r>
              <a:rPr sz="1600" b="0" dirty="0" err="1">
                <a:latin typeface="Calibri"/>
              </a:rPr>
              <a:t>Mulheres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não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brancas</a:t>
            </a:r>
            <a:r>
              <a:rPr sz="1600" b="0" dirty="0">
                <a:latin typeface="Calibri"/>
              </a:rPr>
              <a:t> as </a:t>
            </a:r>
            <a:r>
              <a:rPr sz="1600" b="0" dirty="0" err="1">
                <a:latin typeface="Calibri"/>
              </a:rPr>
              <a:t>mais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afetadas</a:t>
            </a:r>
            <a:r>
              <a:rPr sz="1600" b="0" dirty="0">
                <a:latin typeface="Calibri"/>
              </a:rPr>
              <a:t> — replica o </a:t>
            </a:r>
            <a:r>
              <a:rPr sz="1600" b="0" dirty="0" err="1">
                <a:latin typeface="Calibri"/>
              </a:rPr>
              <a:t>padrão</a:t>
            </a:r>
            <a:r>
              <a:rPr sz="1600" b="0" dirty="0">
                <a:latin typeface="Calibri"/>
              </a:rPr>
              <a:t> Gender Shades</a:t>
            </a:r>
          </a:p>
        </p:txBody>
      </p:sp>
      <p:pic>
        <p:nvPicPr>
          <p:cNvPr id="4" name="Picture 3" descr="fig2_fairface_f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748" y="2155032"/>
            <a:ext cx="5983612" cy="38061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FE7DBA8-001E-F0A0-746A-68FAA7899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87" y="2155032"/>
            <a:ext cx="2003761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668286" y="5301343"/>
            <a:ext cx="757630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Marco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Jurídico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Brasileiro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F07472-0C08-2DC7-2217-AEB0B9CEA6AB}"/>
              </a:ext>
            </a:extLst>
          </p:cNvPr>
          <p:cNvSpPr txBox="1"/>
          <p:nvPr/>
        </p:nvSpPr>
        <p:spPr>
          <a:xfrm>
            <a:off x="1349830" y="870857"/>
            <a:ext cx="458288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pt-BR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Marco jurídico brasileiro</a:t>
            </a:r>
            <a:endParaRPr lang="pt-BR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Constituição Federal de 1988</a:t>
            </a: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 Geral de Proteção de Dados Pessoais</a:t>
            </a: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 nº 13.812/2019 (Pessoas Desaparecidas)</a:t>
            </a: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 de Lei nº 2.338/2023 (Marco Legal da IA)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C066A2-3EBE-B69C-3062-B9AD35B9B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642" y="1362073"/>
            <a:ext cx="2403093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>
            <a:spLocks noGrp="1"/>
          </p:cNvSpPr>
          <p:nvPr>
            <p:ph type="title"/>
          </p:nvPr>
        </p:nvSpPr>
        <p:spPr>
          <a:xfrm>
            <a:off x="1580444" y="274637"/>
            <a:ext cx="669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dirty="0"/>
              <a:t>Distinção jurídica</a:t>
            </a:r>
          </a:p>
        </p:txBody>
      </p:sp>
      <p:sp>
        <p:nvSpPr>
          <p:cNvPr id="168" name="Google Shape;168;p27"/>
          <p:cNvSpPr txBox="1">
            <a:spLocks noGrp="1"/>
          </p:cNvSpPr>
          <p:nvPr>
            <p:ph type="body" idx="1"/>
          </p:nvPr>
        </p:nvSpPr>
        <p:spPr>
          <a:xfrm>
            <a:off x="3732551" y="3771789"/>
            <a:ext cx="5033389" cy="175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pt-BR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Pessoas desaparecidas: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pt-B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Ausência de presunção de crime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pt-B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Direito à autodeterminação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pt-B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Maior sensibilidade jurídica</a:t>
            </a:r>
          </a:p>
          <a:p>
            <a:pPr marL="15875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endParaRPr lang="pt-BR" sz="2240" baseline="30000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endParaRPr lang="pt-BR" sz="2240" baseline="30000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endParaRPr lang="pt-BR" sz="2240" baseline="30000" dirty="0"/>
          </a:p>
          <a:p>
            <a:pPr marL="0" marR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240"/>
              <a:buNone/>
            </a:pPr>
            <a:endParaRPr sz="2240" baseline="30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D37735B-856A-97CA-96F1-35ACD6BE8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209" y="1758727"/>
            <a:ext cx="2387723" cy="402612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6A3B943-5F15-19C3-892E-A8A740738BAF}"/>
              </a:ext>
            </a:extLst>
          </p:cNvPr>
          <p:cNvSpPr txBox="1"/>
          <p:nvPr/>
        </p:nvSpPr>
        <p:spPr>
          <a:xfrm>
            <a:off x="3732551" y="1871438"/>
            <a:ext cx="43621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3200"/>
            </a:pPr>
            <a:r>
              <a:rPr lang="pt-BR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rebuchet MS"/>
              </a:rPr>
              <a:t>Pessoas procuradas pela Justiça:</a:t>
            </a:r>
          </a:p>
          <a:p>
            <a:pPr marL="285750" lvl="0" indent="-285750">
              <a:buSzPts val="3200"/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rebuchet MS"/>
              </a:rPr>
              <a:t>Existência de ordem judicial</a:t>
            </a:r>
          </a:p>
          <a:p>
            <a:pPr marL="285750" lvl="0" indent="-285750">
              <a:buSzPts val="3200"/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rebuchet MS"/>
              </a:rPr>
              <a:t>Contexto de persecução penal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Experiências Internacionais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840480" cy="4206240"/>
          </a:xfrm>
          <a:prstGeom prst="roundRect">
            <a:avLst/>
          </a:prstGeom>
          <a:solidFill>
            <a:srgbClr val="F7E6E7"/>
          </a:solidFill>
          <a:ln w="12700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840480" cy="64008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União Europeia —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2918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Uso humanitário permitido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Sujeito a salvaguardas específicas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Autorização judicial e avaliação de impacto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Limites temporais e geográficos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54480"/>
            <a:ext cx="3840480" cy="4206240"/>
          </a:xfrm>
          <a:prstGeom prst="roundRect">
            <a:avLst/>
          </a:prstGeom>
          <a:solidFill>
            <a:srgbClr val="F7E6E7"/>
          </a:solidFill>
          <a:ln w="12700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3840480" cy="64008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INTERPOL — I-Familia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31720"/>
            <a:ext cx="32918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Banco global para desaparecidos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Separação entre bases criminais e humanitárias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Governança e controle institucional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• Supervisão técnica qualificada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Síntese dos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3220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55448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A tecnologia apresenta potencial relevante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Apoio real à busca em larga escala.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711196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33472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Persistem limitações técnicas importantes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Envelhecimento, baixa qualidade e viés.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21024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790187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12463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Há riscos jurídicos e éticos significativos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Privacidade, autodeterminação e discriminação.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486918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91456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O uso indiscriminado não é viável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Exige governança, controle e proporcionalidade.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Trabalhos Futuros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32204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55448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Base representativa da população brasileira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Medir o viés diretamente no contexto nacional.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711196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33472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Identificação 1:N e múltiplos modelos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Estender a auditoria a cenários de larga escala.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21024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790187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12463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Envelhecimento facial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Foco em casos de crianças desaparecidas.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7772400" cy="868680"/>
          </a:xfrm>
          <a:prstGeom prst="roundRect">
            <a:avLst/>
          </a:prstGeom>
          <a:solidFill>
            <a:srgbClr val="F7E6E7"/>
          </a:solidFill>
          <a:ln w="9525">
            <a:solidFill>
              <a:srgbClr val="E63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4869180"/>
            <a:ext cx="530352" cy="530352"/>
          </a:xfrm>
          <a:prstGeom prst="ellipse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91456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202E"/>
                </a:solidFill>
                <a:latin typeface="Calibri"/>
              </a:rPr>
              <a:t>Protocolo de homologação humanitário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Condicionar o uso à equidade demonstrada.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0202E"/>
                </a:solidFill>
                <a:latin typeface="Calibri"/>
              </a:rPr>
              <a:t>Viabilidade: Quatro Condições Essenciais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O uso do reconhecimento facial para fins humanitários depende 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874519" cy="329184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60019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Base legal</a:t>
            </a:r>
          </a:p>
          <a:p>
            <a:pPr algn="ctr"/>
            <a:r>
              <a:rPr sz="1200" b="0">
                <a:solidFill>
                  <a:srgbClr val="F2D8DA"/>
                </a:solidFill>
                <a:latin typeface="Calibri"/>
              </a:rPr>
              <a:t>Legislação federal específica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920240"/>
            <a:ext cx="1874519" cy="329184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21488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971800"/>
            <a:ext cx="160019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Governança</a:t>
            </a:r>
          </a:p>
          <a:p>
            <a:pPr algn="ctr"/>
            <a:r>
              <a:rPr sz="1200" b="0">
                <a:solidFill>
                  <a:srgbClr val="F2D8DA"/>
                </a:solidFill>
                <a:latin typeface="Calibri"/>
              </a:rPr>
              <a:t>Estrutura institucional adequada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920240"/>
            <a:ext cx="1874519" cy="329184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488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971800"/>
            <a:ext cx="160019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Supervisão humana</a:t>
            </a:r>
          </a:p>
          <a:p>
            <a:pPr algn="ctr"/>
            <a:r>
              <a:rPr sz="1200" b="0">
                <a:solidFill>
                  <a:srgbClr val="F2D8DA"/>
                </a:solidFill>
                <a:latin typeface="Calibri"/>
              </a:rPr>
              <a:t>Decisão final sempre humana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920240"/>
            <a:ext cx="1874519" cy="3291840"/>
          </a:xfrm>
          <a:prstGeom prst="round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1488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71800"/>
            <a:ext cx="160019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Auditoria</a:t>
            </a:r>
          </a:p>
          <a:p>
            <a:pPr algn="ctr"/>
            <a:r>
              <a:rPr sz="1200" b="0">
                <a:solidFill>
                  <a:srgbClr val="F2D8DA"/>
                </a:solidFill>
                <a:latin typeface="Calibri"/>
              </a:rPr>
              <a:t>Avaliação contínua de viés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0202E"/>
                </a:solidFill>
                <a:latin typeface="Calibri"/>
              </a:rPr>
              <a:t>Análise de Viabilidade Técnica e Jurídica no Uso da IA</a:t>
            </a:r>
          </a:p>
          <a:p>
            <a:pPr algn="ctr"/>
            <a:r>
              <a:rPr sz="2000" b="1">
                <a:solidFill>
                  <a:srgbClr val="B0202E"/>
                </a:solidFill>
                <a:latin typeface="Calibri"/>
              </a:rPr>
              <a:t>para Apoio à Identificação de Pessoas Desaparecidas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3977639"/>
            <a:ext cx="2011680" cy="54864"/>
          </a:xfrm>
          <a:prstGeom prst="rect">
            <a:avLst/>
          </a:prstGeom>
          <a:solidFill>
            <a:srgbClr val="E6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680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Calibri"/>
              </a:rPr>
              <a:t>UNIVESP — Bacharelado em Ciência de Dados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Turma 004 — Grupo 2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B0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sp  1">
      <a:dk1>
        <a:srgbClr val="808285"/>
      </a:dk1>
      <a:lt1>
        <a:srgbClr val="FFFFFF"/>
      </a:lt1>
      <a:dk2>
        <a:srgbClr val="000000"/>
      </a:dk2>
      <a:lt2>
        <a:srgbClr val="E6E7E8"/>
      </a:lt2>
      <a:accent1>
        <a:srgbClr val="AF1E23"/>
      </a:accent1>
      <a:accent2>
        <a:srgbClr val="AF1E23"/>
      </a:accent2>
      <a:accent3>
        <a:srgbClr val="4C4C4C"/>
      </a:accent3>
      <a:accent4>
        <a:srgbClr val="666666"/>
      </a:accent4>
      <a:accent5>
        <a:srgbClr val="808080"/>
      </a:accent5>
      <a:accent6>
        <a:srgbClr val="CCCCCC"/>
      </a:accent6>
      <a:hlink>
        <a:srgbClr val="CCCCCC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1318</Words>
  <Application>Microsoft Office PowerPoint</Application>
  <PresentationFormat>On-screen Show (4:3)</PresentationFormat>
  <Paragraphs>166</Paragraphs>
  <Slides>23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 Análise de Viabilidade Técnica e Jurídica no Uso da Inteligência Artificial para Apoio à Identificação de Pessoas Desaparecidas </vt:lpstr>
      <vt:lpstr>         Nome dos Alunos    </vt:lpstr>
      <vt:lpstr>Problema/Contexto</vt:lpstr>
      <vt:lpstr>Motivação do trabalho</vt:lpstr>
      <vt:lpstr>Objetivo</vt:lpstr>
      <vt:lpstr>Objetivos específicos </vt:lpstr>
      <vt:lpstr>Fundamentação/Referencial</vt:lpstr>
      <vt:lpstr>Aspectos técnicos do reconhecimento facial </vt:lpstr>
      <vt:lpstr>PowerPoint Presentation</vt:lpstr>
      <vt:lpstr>Conexão Interdisciplinar  </vt:lpstr>
      <vt:lpstr>PowerPoint Presentation</vt:lpstr>
      <vt:lpstr>Contexto Brasileiro</vt:lpstr>
      <vt:lpstr>Divisão do processo de Reconhecimento</vt:lpstr>
      <vt:lpstr>Indicadores de Desempenho (Acurácia, Precisão e Recall) </vt:lpstr>
      <vt:lpstr>Auditoria Empírica de Viés — Contribuição de Ciência de Dados e resultados — Desempenho de Verificação (LFW)</vt:lpstr>
      <vt:lpstr>Resultados — Viés Demográfico (FairFace)</vt:lpstr>
      <vt:lpstr>Resultados — Marco Jurídico Brasileiro</vt:lpstr>
      <vt:lpstr>Distinção jurídica</vt:lpstr>
      <vt:lpstr>Experiências Internacionais</vt:lpstr>
      <vt:lpstr> Resultados </vt:lpstr>
      <vt:lpstr>Trabalhos futuros</vt:lpstr>
      <vt:lpstr>A viabilidade do uso do reconhecimento facial para fins humanitários depende de:</vt:lpstr>
      <vt:lpstr>Encerramento “Obrigado” Contato QR code do projeto/artigo/github (opcional)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Análise de Viabilidade Técnica e Jurídica no Uso da Inteligência Artificial para Apoio à Identificação de Pessoas Desaparecidas </dc:title>
  <dc:creator>Valdina Alves Cogue</dc:creator>
  <cp:lastModifiedBy>Kelly Cristina M De Almeida</cp:lastModifiedBy>
  <cp:revision>18</cp:revision>
  <dcterms:modified xsi:type="dcterms:W3CDTF">2026-06-04T01:19:43Z</dcterms:modified>
</cp:coreProperties>
</file>